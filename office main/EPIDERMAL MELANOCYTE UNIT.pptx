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327" r:id="rId2"/>
    <p:sldId id="377" r:id="rId3"/>
    <p:sldId id="269" r:id="rId4"/>
    <p:sldId id="365" r:id="rId5"/>
    <p:sldId id="380" r:id="rId6"/>
    <p:sldId id="366" r:id="rId7"/>
    <p:sldId id="352" r:id="rId8"/>
    <p:sldId id="372" r:id="rId9"/>
    <p:sldId id="326" r:id="rId10"/>
    <p:sldId id="279" r:id="rId11"/>
    <p:sldId id="281" r:id="rId12"/>
    <p:sldId id="282" r:id="rId13"/>
    <p:sldId id="283" r:id="rId14"/>
    <p:sldId id="390" r:id="rId15"/>
    <p:sldId id="354" r:id="rId16"/>
    <p:sldId id="363" r:id="rId17"/>
    <p:sldId id="404" r:id="rId18"/>
    <p:sldId id="362" r:id="rId19"/>
    <p:sldId id="284" r:id="rId20"/>
    <p:sldId id="285" r:id="rId21"/>
    <p:sldId id="386" r:id="rId22"/>
    <p:sldId id="378" r:id="rId23"/>
    <p:sldId id="379" r:id="rId24"/>
    <p:sldId id="360" r:id="rId25"/>
    <p:sldId id="373" r:id="rId26"/>
    <p:sldId id="324" r:id="rId27"/>
    <p:sldId id="361" r:id="rId28"/>
    <p:sldId id="392" r:id="rId29"/>
    <p:sldId id="394" r:id="rId30"/>
    <p:sldId id="383" r:id="rId31"/>
    <p:sldId id="384" r:id="rId32"/>
    <p:sldId id="315" r:id="rId33"/>
    <p:sldId id="317" r:id="rId34"/>
    <p:sldId id="374" r:id="rId35"/>
    <p:sldId id="323" r:id="rId36"/>
    <p:sldId id="387" r:id="rId37"/>
    <p:sldId id="319" r:id="rId38"/>
    <p:sldId id="381" r:id="rId39"/>
    <p:sldId id="397" r:id="rId40"/>
    <p:sldId id="398" r:id="rId41"/>
    <p:sldId id="399" r:id="rId42"/>
    <p:sldId id="400" r:id="rId43"/>
    <p:sldId id="401" r:id="rId44"/>
    <p:sldId id="402" r:id="rId45"/>
    <p:sldId id="403" r:id="rId46"/>
    <p:sldId id="375" r:id="rId47"/>
    <p:sldId id="376" r:id="rId48"/>
    <p:sldId id="388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35DEA021-8679-4B81-8C5D-D1919B0E4E96}" type="datetimeFigureOut">
              <a:rPr lang="en-IN" smtClean="0"/>
              <a:t>18-01-2015</a:t>
            </a:fld>
            <a:endParaRPr lang="en-IN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4BF5CD2-8F90-4A2C-BD65-D783B0D5789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DEA021-8679-4B81-8C5D-D1919B0E4E96}" type="datetimeFigureOut">
              <a:rPr lang="en-IN" smtClean="0"/>
              <a:t>18-01-2015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4BF5CD2-8F90-4A2C-BD65-D783B0D57892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DEA021-8679-4B81-8C5D-D1919B0E4E96}" type="datetimeFigureOut">
              <a:rPr lang="en-IN" smtClean="0"/>
              <a:t>18-01-2015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4BF5CD2-8F90-4A2C-BD65-D783B0D57892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DEA021-8679-4B81-8C5D-D1919B0E4E96}" type="datetimeFigureOut">
              <a:rPr lang="en-IN" smtClean="0"/>
              <a:t>18-01-2015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4BF5CD2-8F90-4A2C-BD65-D783B0D57892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DEA021-8679-4B81-8C5D-D1919B0E4E96}" type="datetimeFigureOut">
              <a:rPr lang="en-IN" smtClean="0"/>
              <a:t>18-01-2015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4BF5CD2-8F90-4A2C-BD65-D783B0D57892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DEA021-8679-4B81-8C5D-D1919B0E4E96}" type="datetimeFigureOut">
              <a:rPr lang="en-IN" smtClean="0"/>
              <a:t>18-01-2015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4BF5CD2-8F90-4A2C-BD65-D783B0D57892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DEA021-8679-4B81-8C5D-D1919B0E4E96}" type="datetimeFigureOut">
              <a:rPr lang="en-IN" smtClean="0"/>
              <a:t>18-01-2015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4BF5CD2-8F90-4A2C-BD65-D783B0D5789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35DEA021-8679-4B81-8C5D-D1919B0E4E96}" type="datetimeFigureOut">
              <a:rPr lang="en-IN" smtClean="0"/>
              <a:t>18-01-2015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4BF5CD2-8F90-4A2C-BD65-D783B0D57892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35DEA021-8679-4B81-8C5D-D1919B0E4E96}" type="datetimeFigureOut">
              <a:rPr lang="en-IN" smtClean="0"/>
              <a:t>18-01-2015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4BF5CD2-8F90-4A2C-BD65-D783B0D57892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DEA021-8679-4B81-8C5D-D1919B0E4E96}" type="datetimeFigureOut">
              <a:rPr lang="en-IN" smtClean="0"/>
              <a:t>18-01-2015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4BF5CD2-8F90-4A2C-BD65-D783B0D5789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DEA021-8679-4B81-8C5D-D1919B0E4E96}" type="datetimeFigureOut">
              <a:rPr lang="en-IN" smtClean="0"/>
              <a:t>18-01-2015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4BF5CD2-8F90-4A2C-BD65-D783B0D5789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35DEA021-8679-4B81-8C5D-D1919B0E4E96}" type="datetimeFigureOut">
              <a:rPr lang="en-IN" smtClean="0"/>
              <a:t>18-01-2015</a:t>
            </a:fld>
            <a:endParaRPr lang="en-IN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44BF5CD2-8F90-4A2C-BD65-D783B0D57892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Definition: functional and structural complex within epidermis consisting of melanocytes and keratinocytes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About </a:t>
            </a:r>
            <a:r>
              <a:rPr lang="en-US" dirty="0"/>
              <a:t>36 keratinocytes are associated with each melanocyte, an association that has been </a:t>
            </a:r>
            <a:r>
              <a:rPr lang="en-US" dirty="0" smtClean="0"/>
              <a:t> </a:t>
            </a:r>
            <a:r>
              <a:rPr lang="en-US" dirty="0"/>
              <a:t>termed as EPIDERMAL MELANIN UNIT 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EPIDERMAL MELANIN UNIT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6274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484784"/>
            <a:ext cx="6076950" cy="456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9832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Melanocytes are the dendritic cells that synthesize and secret melanin containing organelles called </a:t>
            </a:r>
            <a:r>
              <a:rPr lang="en-US" dirty="0" err="1" smtClean="0"/>
              <a:t>melanosomes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IN" dirty="0" smtClean="0"/>
              <a:t>Derived from neural crest cells </a:t>
            </a:r>
            <a:r>
              <a:rPr lang="en-IN" dirty="0" err="1" smtClean="0"/>
              <a:t>melanoblast</a:t>
            </a:r>
            <a:r>
              <a:rPr lang="en-IN" dirty="0" smtClean="0"/>
              <a:t> and migrate to :</a:t>
            </a:r>
          </a:p>
          <a:p>
            <a:pPr marL="0" indent="0">
              <a:buNone/>
            </a:pPr>
            <a:r>
              <a:rPr lang="en-IN" dirty="0" smtClean="0"/>
              <a:t>epidermis and hair follicle</a:t>
            </a:r>
          </a:p>
          <a:p>
            <a:pPr marL="0" indent="0">
              <a:buNone/>
            </a:pPr>
            <a:r>
              <a:rPr lang="en-US" dirty="0" smtClean="0"/>
              <a:t>Dermis </a:t>
            </a:r>
          </a:p>
          <a:p>
            <a:pPr marL="0" indent="0">
              <a:buNone/>
            </a:pPr>
            <a:r>
              <a:rPr lang="en-US" dirty="0" err="1" smtClean="0"/>
              <a:t>Leptomeninges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Uveal</a:t>
            </a:r>
            <a:r>
              <a:rPr lang="en-US" dirty="0" smtClean="0"/>
              <a:t> tract of eye</a:t>
            </a:r>
          </a:p>
          <a:p>
            <a:pPr marL="0" indent="0">
              <a:buNone/>
            </a:pPr>
            <a:r>
              <a:rPr lang="en-US" dirty="0" smtClean="0"/>
              <a:t>Inner ear</a:t>
            </a:r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MELANOCYTES</a:t>
            </a:r>
            <a:endParaRPr lang="en-IN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4221088"/>
            <a:ext cx="3305944" cy="240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748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332656"/>
            <a:ext cx="8183760" cy="568863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 err="1"/>
              <a:t>Melanoblasts</a:t>
            </a:r>
            <a:r>
              <a:rPr lang="en-IN" dirty="0"/>
              <a:t> (Melanocyte precursors</a:t>
            </a:r>
            <a:r>
              <a:rPr lang="en-IN" dirty="0" smtClean="0"/>
              <a:t>) migrate moving </a:t>
            </a:r>
            <a:r>
              <a:rPr lang="en-IN" dirty="0" err="1"/>
              <a:t>dorsolaterally</a:t>
            </a:r>
            <a:r>
              <a:rPr lang="en-IN" dirty="0"/>
              <a:t> and then ventrally around the trunk to the ventral midline &amp; </a:t>
            </a:r>
            <a:r>
              <a:rPr lang="en-IN" dirty="0" smtClean="0"/>
              <a:t>differentiate </a:t>
            </a:r>
            <a:r>
              <a:rPr lang="en-IN" dirty="0"/>
              <a:t>into </a:t>
            </a:r>
            <a:r>
              <a:rPr lang="en-IN" dirty="0" smtClean="0"/>
              <a:t>melanocytes</a:t>
            </a:r>
          </a:p>
          <a:p>
            <a:pPr marL="0" indent="0">
              <a:buNone/>
            </a:pPr>
            <a:r>
              <a:rPr lang="en-IN" dirty="0" smtClean="0"/>
              <a:t>During </a:t>
            </a:r>
            <a:r>
              <a:rPr lang="en-IN" dirty="0"/>
              <a:t>embryogenesis, melanin-producing melanocytes are found diffusely throughout the </a:t>
            </a:r>
            <a:r>
              <a:rPr lang="en-IN" dirty="0" smtClean="0"/>
              <a:t>dermis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At  </a:t>
            </a:r>
            <a:r>
              <a:rPr lang="en-IN" dirty="0"/>
              <a:t>the end of gestation, active dermal melanocytes </a:t>
            </a:r>
            <a:r>
              <a:rPr lang="en-IN" dirty="0" smtClean="0"/>
              <a:t> </a:t>
            </a:r>
            <a:r>
              <a:rPr lang="en-IN" dirty="0"/>
              <a:t>“</a:t>
            </a:r>
            <a:r>
              <a:rPr lang="en-IN" dirty="0" smtClean="0"/>
              <a:t>disappear”, </a:t>
            </a:r>
            <a:r>
              <a:rPr lang="en-IN" dirty="0"/>
              <a:t>except in three anatomic locations </a:t>
            </a:r>
          </a:p>
          <a:p>
            <a:pPr marL="514350" indent="-514350">
              <a:buAutoNum type="arabicPeriod"/>
            </a:pPr>
            <a:r>
              <a:rPr lang="en-IN" dirty="0" smtClean="0"/>
              <a:t>the </a:t>
            </a:r>
            <a:r>
              <a:rPr lang="en-IN" dirty="0"/>
              <a:t>head and neck</a:t>
            </a:r>
            <a:r>
              <a:rPr lang="en-IN" dirty="0" smtClean="0"/>
              <a:t>,</a:t>
            </a:r>
          </a:p>
          <a:p>
            <a:pPr marL="514350" indent="-514350">
              <a:buAutoNum type="arabicPeriod"/>
            </a:pPr>
            <a:r>
              <a:rPr lang="en-IN" dirty="0" smtClean="0"/>
              <a:t>the </a:t>
            </a:r>
            <a:r>
              <a:rPr lang="en-IN" dirty="0"/>
              <a:t>dorsal aspects of the distal extremities, </a:t>
            </a:r>
          </a:p>
          <a:p>
            <a:pPr marL="514350" indent="-514350">
              <a:buAutoNum type="arabicPeriod"/>
            </a:pPr>
            <a:r>
              <a:rPr lang="en-IN" dirty="0" smtClean="0"/>
              <a:t>the </a:t>
            </a:r>
            <a:r>
              <a:rPr lang="en-IN" dirty="0" err="1"/>
              <a:t>presacral</a:t>
            </a:r>
            <a:r>
              <a:rPr lang="en-IN" dirty="0"/>
              <a:t> area that coincide with the most common sites for dermal </a:t>
            </a:r>
            <a:r>
              <a:rPr lang="en-IN" dirty="0" err="1"/>
              <a:t>melanocytosis</a:t>
            </a:r>
            <a:r>
              <a:rPr lang="en-IN" dirty="0"/>
              <a:t> and dermal </a:t>
            </a:r>
            <a:r>
              <a:rPr lang="en-IN" dirty="0" err="1"/>
              <a:t>melanocytomas</a:t>
            </a:r>
            <a:r>
              <a:rPr lang="en-IN" dirty="0"/>
              <a:t> (blue nevi</a:t>
            </a:r>
            <a:r>
              <a:rPr lang="en-IN" dirty="0" smtClean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3862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764705"/>
            <a:ext cx="4605756" cy="5406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2900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Primitive </a:t>
            </a:r>
            <a:r>
              <a:rPr lang="en-IN" dirty="0"/>
              <a:t>melanocytes: 8th wk. </a:t>
            </a:r>
            <a:r>
              <a:rPr lang="en-IN" dirty="0" smtClean="0"/>
              <a:t>gestation</a:t>
            </a:r>
          </a:p>
          <a:p>
            <a:pPr marL="0" indent="0">
              <a:buNone/>
            </a:pPr>
            <a:r>
              <a:rPr lang="en-IN" dirty="0" smtClean="0"/>
              <a:t>early </a:t>
            </a:r>
            <a:r>
              <a:rPr lang="en-IN" dirty="0"/>
              <a:t>melanization:10th wk. gestation </a:t>
            </a:r>
            <a:endParaRPr lang="en-IN" dirty="0" smtClean="0"/>
          </a:p>
          <a:p>
            <a:pPr marL="0" indent="0">
              <a:buNone/>
            </a:pPr>
            <a:r>
              <a:rPr lang="en-US" dirty="0" smtClean="0"/>
              <a:t>Differentiation to melanocytes: 6 months</a:t>
            </a: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 smtClean="0"/>
              <a:t>Fetal</a:t>
            </a:r>
            <a:r>
              <a:rPr lang="en-IN" dirty="0" smtClean="0"/>
              <a:t> </a:t>
            </a:r>
            <a:r>
              <a:rPr lang="en-IN" dirty="0"/>
              <a:t>skin contain melanocytes in the dermis basally, </a:t>
            </a:r>
            <a:r>
              <a:rPr lang="en-IN" dirty="0" err="1"/>
              <a:t>suprabasally</a:t>
            </a:r>
            <a:r>
              <a:rPr lang="en-IN" dirty="0"/>
              <a:t>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Neonatal </a:t>
            </a:r>
            <a:r>
              <a:rPr lang="en-IN" dirty="0"/>
              <a:t>skin contain melanocytes only </a:t>
            </a:r>
            <a:r>
              <a:rPr lang="en-IN" dirty="0" smtClean="0"/>
              <a:t>basally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8025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410445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Microscopy: Melanocytes appear as clear cells </a:t>
            </a:r>
            <a:r>
              <a:rPr lang="en-US" dirty="0"/>
              <a:t> </a:t>
            </a:r>
            <a:r>
              <a:rPr lang="en-US" dirty="0" smtClean="0"/>
              <a:t>in and immediately beneath the basal row of the epidermis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 smtClean="0"/>
              <a:t>Hematoxylin</a:t>
            </a:r>
            <a:r>
              <a:rPr lang="en-US" dirty="0" smtClean="0"/>
              <a:t> and eosin stained section shows :</a:t>
            </a:r>
          </a:p>
          <a:p>
            <a:pPr marL="0" indent="0">
              <a:buNone/>
            </a:pPr>
            <a:r>
              <a:rPr lang="en-US" dirty="0" smtClean="0"/>
              <a:t>-average no of melanocytes is one out of ten in basal row</a:t>
            </a:r>
          </a:p>
          <a:p>
            <a:pPr marL="0" indent="0">
              <a:buNone/>
            </a:pPr>
            <a:r>
              <a:rPr lang="en-IN" dirty="0" smtClean="0"/>
              <a:t>-wedged </a:t>
            </a:r>
            <a:r>
              <a:rPr lang="en-IN" dirty="0"/>
              <a:t>between the basal cells of the </a:t>
            </a:r>
            <a:r>
              <a:rPr lang="en-IN" dirty="0" smtClean="0"/>
              <a:t>epidermis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-nucleus of melanocyte is smaller and more deeply basophilic than that of basal keratinocytes with clear cytoplasm</a:t>
            </a:r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4509120"/>
            <a:ext cx="2409825" cy="189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4471019"/>
            <a:ext cx="2857500" cy="193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1132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The concentration of melanocytes vary according to region of body</a:t>
            </a:r>
          </a:p>
          <a:p>
            <a:pPr marL="0" indent="0">
              <a:buNone/>
            </a:pPr>
            <a:r>
              <a:rPr lang="en-US" dirty="0" smtClean="0"/>
              <a:t>Face : </a:t>
            </a:r>
            <a:r>
              <a:rPr lang="en-US" dirty="0" err="1" smtClean="0"/>
              <a:t>upto</a:t>
            </a:r>
            <a:r>
              <a:rPr lang="en-US" dirty="0" smtClean="0"/>
              <a:t> 2900/sq.mm</a:t>
            </a:r>
          </a:p>
          <a:p>
            <a:pPr marL="0" indent="0">
              <a:buNone/>
            </a:pPr>
            <a:r>
              <a:rPr lang="en-US" dirty="0" smtClean="0"/>
              <a:t>Trunk : </a:t>
            </a:r>
            <a:r>
              <a:rPr lang="en-US" dirty="0" err="1" smtClean="0"/>
              <a:t>upto</a:t>
            </a:r>
            <a:r>
              <a:rPr lang="en-US" smtClean="0"/>
              <a:t> 1250/sq.mm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192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404664"/>
            <a:ext cx="8219256" cy="57214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TYPES OF MELANOCYTES </a:t>
            </a:r>
          </a:p>
          <a:p>
            <a:pPr marL="0" indent="0">
              <a:buNone/>
            </a:pPr>
            <a:r>
              <a:rPr lang="en-IN" dirty="0"/>
              <a:t>1- SECRETORY MELANOCYTES: Present in basal layer of epidermis form network of dendrites in the basal layer  They act as unicellular glands producing </a:t>
            </a:r>
            <a:r>
              <a:rPr lang="en-IN" dirty="0" err="1"/>
              <a:t>melanosomes</a:t>
            </a:r>
            <a:r>
              <a:rPr lang="en-IN" dirty="0"/>
              <a:t> that are transferred to surrounding epidermal keratinocytes </a:t>
            </a: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2- NON-SECRETORY MELANOCYTES:  Called MELANOPHORES do not transfer </a:t>
            </a:r>
            <a:r>
              <a:rPr lang="en-IN" dirty="0" err="1"/>
              <a:t>melanosome</a:t>
            </a:r>
            <a:r>
              <a:rPr lang="en-IN" dirty="0"/>
              <a:t> but redistribute them from </a:t>
            </a:r>
            <a:r>
              <a:rPr lang="en-IN" dirty="0" err="1"/>
              <a:t>perinuclear</a:t>
            </a:r>
            <a:r>
              <a:rPr lang="en-IN" dirty="0"/>
              <a:t> zone into dendrites and back again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9346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err="1"/>
              <a:t>Melanosomes</a:t>
            </a:r>
            <a:r>
              <a:rPr lang="en-IN" dirty="0"/>
              <a:t> </a:t>
            </a:r>
            <a:r>
              <a:rPr lang="en-IN" dirty="0" smtClean="0"/>
              <a:t>: Is </a:t>
            </a:r>
            <a:r>
              <a:rPr lang="en-IN" dirty="0"/>
              <a:t>membrane-bound unique organelle </a:t>
            </a:r>
            <a:r>
              <a:rPr lang="en-IN" dirty="0" smtClean="0"/>
              <a:t>within </a:t>
            </a:r>
            <a:r>
              <a:rPr lang="en-IN" dirty="0"/>
              <a:t>the cytoplasm of melanocytes in which </a:t>
            </a:r>
            <a:r>
              <a:rPr lang="en-IN" dirty="0" smtClean="0"/>
              <a:t>melanin </a:t>
            </a:r>
            <a:r>
              <a:rPr lang="en-IN" dirty="0"/>
              <a:t>pigments are synthesized, deposited and </a:t>
            </a:r>
            <a:r>
              <a:rPr lang="en-IN" dirty="0" smtClean="0"/>
              <a:t>transported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MELANOGENESIS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8097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Stage I </a:t>
            </a:r>
          </a:p>
          <a:p>
            <a:pPr marL="0" indent="0">
              <a:buNone/>
            </a:pPr>
            <a:r>
              <a:rPr lang="en-IN" dirty="0" err="1" smtClean="0"/>
              <a:t>Melanosomes</a:t>
            </a:r>
            <a:r>
              <a:rPr lang="en-IN" dirty="0" smtClean="0"/>
              <a:t> </a:t>
            </a:r>
            <a:r>
              <a:rPr lang="en-IN" dirty="0"/>
              <a:t>are </a:t>
            </a:r>
            <a:r>
              <a:rPr lang="en-IN" dirty="0" smtClean="0"/>
              <a:t>spherical</a:t>
            </a:r>
          </a:p>
          <a:p>
            <a:pPr marL="0" indent="0">
              <a:buNone/>
            </a:pPr>
            <a:r>
              <a:rPr lang="en-US" dirty="0" smtClean="0"/>
              <a:t>Membrane bound vesicles with longitudinally oriented concentric lamellae</a:t>
            </a:r>
          </a:p>
          <a:p>
            <a:pPr marL="0" indent="0">
              <a:buNone/>
            </a:pPr>
            <a:r>
              <a:rPr lang="en-IN" dirty="0" smtClean="0"/>
              <a:t>possess </a:t>
            </a:r>
            <a:r>
              <a:rPr lang="en-IN" dirty="0"/>
              <a:t>very intense enzyme activity concentrated along </a:t>
            </a:r>
            <a:r>
              <a:rPr lang="en-IN" dirty="0" smtClean="0"/>
              <a:t>filaments</a:t>
            </a:r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/>
              <a:t>contain no melanin </a:t>
            </a:r>
            <a:endParaRPr lang="en-IN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4149080"/>
            <a:ext cx="1800200" cy="1512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7762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Stage II</a:t>
            </a:r>
          </a:p>
          <a:p>
            <a:pPr marL="0" indent="0">
              <a:buNone/>
            </a:pPr>
            <a:r>
              <a:rPr lang="en-IN" dirty="0" err="1"/>
              <a:t>Melanosomes</a:t>
            </a:r>
            <a:r>
              <a:rPr lang="en-IN" dirty="0"/>
              <a:t> are </a:t>
            </a:r>
            <a:r>
              <a:rPr lang="en-IN" dirty="0" smtClean="0"/>
              <a:t>ellipsoid</a:t>
            </a:r>
          </a:p>
          <a:p>
            <a:pPr marL="0" indent="0">
              <a:buNone/>
            </a:pPr>
            <a:r>
              <a:rPr lang="en-IN" dirty="0" smtClean="0"/>
              <a:t>measure </a:t>
            </a:r>
            <a:r>
              <a:rPr lang="en-IN" dirty="0"/>
              <a:t>approximately 0.5 </a:t>
            </a:r>
            <a:r>
              <a:rPr lang="en-IN" dirty="0" smtClean="0"/>
              <a:t>µm </a:t>
            </a:r>
            <a:r>
              <a:rPr lang="en-IN" dirty="0"/>
              <a:t>in length</a:t>
            </a:r>
          </a:p>
          <a:p>
            <a:pPr marL="0" indent="0">
              <a:buNone/>
            </a:pPr>
            <a:r>
              <a:rPr lang="en-IN" dirty="0" smtClean="0"/>
              <a:t>contain numerous lamellae </a:t>
            </a:r>
            <a:r>
              <a:rPr lang="en-IN" dirty="0"/>
              <a:t>that are cross-linked with one </a:t>
            </a:r>
            <a:r>
              <a:rPr lang="en-IN" dirty="0" smtClean="0"/>
              <a:t>another </a:t>
            </a:r>
          </a:p>
          <a:p>
            <a:pPr marL="0" indent="0">
              <a:buNone/>
            </a:pPr>
            <a:r>
              <a:rPr lang="en-IN" dirty="0" smtClean="0"/>
              <a:t>Melanin </a:t>
            </a:r>
            <a:r>
              <a:rPr lang="en-IN" dirty="0"/>
              <a:t>deposition on the cross-linked filaments begins at this stage</a:t>
            </a:r>
          </a:p>
          <a:p>
            <a:endParaRPr lang="en-IN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4725144"/>
            <a:ext cx="1728192" cy="1224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3897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67333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Stage III</a:t>
            </a:r>
          </a:p>
          <a:p>
            <a:pPr marL="0" indent="0">
              <a:buNone/>
            </a:pPr>
            <a:r>
              <a:rPr lang="en-IN" dirty="0" err="1" smtClean="0"/>
              <a:t>Melanosomes</a:t>
            </a:r>
            <a:r>
              <a:rPr lang="en-IN" dirty="0" smtClean="0"/>
              <a:t> </a:t>
            </a:r>
            <a:r>
              <a:rPr lang="en-IN" dirty="0"/>
              <a:t>have only little </a:t>
            </a:r>
            <a:r>
              <a:rPr lang="en-IN" dirty="0" err="1"/>
              <a:t>tyrosinase</a:t>
            </a:r>
            <a:r>
              <a:rPr lang="en-IN" dirty="0"/>
              <a:t> activity but show continued melanin </a:t>
            </a:r>
            <a:r>
              <a:rPr lang="en-IN" dirty="0" smtClean="0"/>
              <a:t>deposition</a:t>
            </a:r>
          </a:p>
          <a:p>
            <a:pPr marL="0" indent="0">
              <a:buNone/>
            </a:pPr>
            <a:r>
              <a:rPr lang="en-US" dirty="0" smtClean="0"/>
              <a:t>The lamellar network is obscured by melanin deposition</a:t>
            </a:r>
            <a:endParaRPr lang="en-IN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Stage IV</a:t>
            </a:r>
          </a:p>
          <a:p>
            <a:pPr marL="0" indent="0">
              <a:buNone/>
            </a:pPr>
            <a:r>
              <a:rPr lang="en-IN" dirty="0" err="1" smtClean="0"/>
              <a:t>Melanosomes</a:t>
            </a:r>
            <a:r>
              <a:rPr lang="en-IN" dirty="0" smtClean="0"/>
              <a:t> </a:t>
            </a:r>
            <a:r>
              <a:rPr lang="en-IN" dirty="0"/>
              <a:t>no longer possess </a:t>
            </a:r>
            <a:r>
              <a:rPr lang="en-IN" dirty="0" err="1"/>
              <a:t>tyrosinase</a:t>
            </a:r>
            <a:r>
              <a:rPr lang="en-IN" dirty="0"/>
              <a:t> </a:t>
            </a:r>
            <a:r>
              <a:rPr lang="en-IN" dirty="0" smtClean="0"/>
              <a:t>activity Melanin is formed </a:t>
            </a:r>
            <a:r>
              <a:rPr lang="en-IN" dirty="0"/>
              <a:t>by </a:t>
            </a:r>
            <a:r>
              <a:rPr lang="en-IN" dirty="0" err="1"/>
              <a:t>nonenzymatic</a:t>
            </a:r>
            <a:r>
              <a:rPr lang="en-IN" dirty="0"/>
              <a:t> </a:t>
            </a:r>
            <a:r>
              <a:rPr lang="en-IN" dirty="0" smtClean="0"/>
              <a:t>polymerization</a:t>
            </a:r>
          </a:p>
          <a:p>
            <a:pPr marL="0" indent="0">
              <a:buNone/>
            </a:pPr>
            <a:r>
              <a:rPr lang="en-US" dirty="0" smtClean="0"/>
              <a:t>Electron opaque due to dense melanin deposits</a:t>
            </a:r>
            <a:endParaRPr lang="en-IN" dirty="0" smtClean="0"/>
          </a:p>
          <a:p>
            <a:pPr marL="0" indent="0">
              <a:buNone/>
            </a:pPr>
            <a:r>
              <a:rPr lang="en-US" dirty="0" smtClean="0"/>
              <a:t>Seen as </a:t>
            </a:r>
            <a:r>
              <a:rPr lang="en-US" dirty="0" err="1" smtClean="0"/>
              <a:t>vesiculoglobular</a:t>
            </a:r>
            <a:r>
              <a:rPr lang="en-US" dirty="0" smtClean="0"/>
              <a:t>  bodies</a:t>
            </a:r>
            <a:endParaRPr lang="en-IN" dirty="0" smtClean="0"/>
          </a:p>
          <a:p>
            <a:pPr marL="0" indent="0">
              <a:buNone/>
            </a:pPr>
            <a:r>
              <a:rPr lang="en-US" dirty="0" smtClean="0"/>
              <a:t>Length is 0.4microm in whites and 0.8 in blacks</a:t>
            </a:r>
            <a:endParaRPr lang="en-IN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836712"/>
            <a:ext cx="1520180" cy="108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2924944"/>
            <a:ext cx="1520180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6051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481138"/>
            <a:ext cx="5520808" cy="4828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3849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1052736"/>
            <a:ext cx="7859216" cy="5073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err="1"/>
              <a:t>Melanosomes</a:t>
            </a:r>
            <a:r>
              <a:rPr lang="en-IN" dirty="0"/>
              <a:t> in their development from stage I to stage IV gradually move from the cytoplasm of the melanocyte into the dendritic </a:t>
            </a:r>
            <a:r>
              <a:rPr lang="en-IN" dirty="0" smtClean="0"/>
              <a:t>processes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/>
              <a:t>As </a:t>
            </a:r>
            <a:r>
              <a:rPr lang="en-IN" dirty="0" err="1"/>
              <a:t>melanosomes</a:t>
            </a:r>
            <a:r>
              <a:rPr lang="en-IN" dirty="0"/>
              <a:t> mature, their content of melanin increases, and their concentration of </a:t>
            </a:r>
            <a:r>
              <a:rPr lang="en-IN" dirty="0" err="1"/>
              <a:t>melanogenic</a:t>
            </a:r>
            <a:r>
              <a:rPr lang="en-IN" dirty="0"/>
              <a:t> </a:t>
            </a:r>
            <a:r>
              <a:rPr lang="en-IN" dirty="0" smtClean="0"/>
              <a:t>enzyme </a:t>
            </a:r>
            <a:r>
              <a:rPr lang="en-IN" dirty="0" err="1" smtClean="0"/>
              <a:t>tyrosinase</a:t>
            </a:r>
            <a:r>
              <a:rPr lang="en-IN" dirty="0" smtClean="0"/>
              <a:t> </a:t>
            </a:r>
            <a:r>
              <a:rPr lang="en-IN" dirty="0"/>
              <a:t>decreases </a:t>
            </a:r>
            <a:r>
              <a:rPr lang="en-IN" dirty="0" smtClean="0"/>
              <a:t>and acid phosphatase increases</a:t>
            </a:r>
          </a:p>
          <a:p>
            <a:pPr marL="0" indent="0">
              <a:buNone/>
            </a:pPr>
            <a:r>
              <a:rPr lang="en-US" dirty="0" smtClean="0"/>
              <a:t>Acid phosphatase help in degradation or transfer of </a:t>
            </a:r>
            <a:r>
              <a:rPr lang="en-US" dirty="0" err="1" smtClean="0"/>
              <a:t>melanosomes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8644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548680"/>
            <a:ext cx="4248472" cy="5184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3946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8994" y="1772816"/>
            <a:ext cx="5616714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39552" y="1196752"/>
            <a:ext cx="5142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Transfer of </a:t>
            </a:r>
            <a:r>
              <a:rPr lang="en-US" dirty="0" err="1" smtClean="0"/>
              <a:t>melanosome</a:t>
            </a:r>
            <a:r>
              <a:rPr lang="en-US" dirty="0" smtClean="0"/>
              <a:t> within melanocytes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395536" y="1988840"/>
            <a:ext cx="29523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 smtClean="0"/>
              <a:t>Melanosome</a:t>
            </a:r>
            <a:r>
              <a:rPr lang="en-IN" dirty="0" smtClean="0"/>
              <a:t>  </a:t>
            </a:r>
            <a:r>
              <a:rPr lang="en-IN" dirty="0"/>
              <a:t>transport  takes  place  on microtubules that  are arranged  parallel  to  </a:t>
            </a:r>
            <a:r>
              <a:rPr lang="en-IN" dirty="0" smtClean="0"/>
              <a:t>the long  </a:t>
            </a:r>
            <a:r>
              <a:rPr lang="en-IN" dirty="0"/>
              <a:t>axis  of the  dendrite</a:t>
            </a:r>
          </a:p>
        </p:txBody>
      </p:sp>
    </p:spTree>
    <p:extLst>
      <p:ext uri="{BB962C8B-B14F-4D97-AF65-F5344CB8AC3E}">
        <p14:creationId xmlns:p14="http://schemas.microsoft.com/office/powerpoint/2010/main" val="1511518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548680"/>
            <a:ext cx="8064896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2476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Enzymatic </a:t>
            </a:r>
            <a:r>
              <a:rPr lang="en-IN" dirty="0" err="1"/>
              <a:t>melanogenesis</a:t>
            </a:r>
            <a:r>
              <a:rPr lang="en-IN" dirty="0"/>
              <a:t> </a:t>
            </a:r>
            <a:r>
              <a:rPr lang="en-IN" dirty="0" smtClean="0"/>
              <a:t> </a:t>
            </a:r>
            <a:r>
              <a:rPr lang="en-IN" dirty="0"/>
              <a:t>involves </a:t>
            </a:r>
            <a:r>
              <a:rPr lang="en-IN" dirty="0" err="1"/>
              <a:t>tyrosinase</a:t>
            </a:r>
            <a:r>
              <a:rPr lang="en-IN" dirty="0"/>
              <a:t> </a:t>
            </a:r>
            <a:r>
              <a:rPr lang="en-IN" dirty="0" smtClean="0"/>
              <a:t>as the </a:t>
            </a:r>
            <a:r>
              <a:rPr lang="en-IN" dirty="0" err="1" smtClean="0"/>
              <a:t>melanogenic</a:t>
            </a:r>
            <a:r>
              <a:rPr lang="en-IN" dirty="0" smtClean="0"/>
              <a:t> enzyme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tyrosine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      </a:t>
            </a:r>
            <a:r>
              <a:rPr lang="en-US" sz="1800" dirty="0" err="1" smtClean="0"/>
              <a:t>tyrosinase</a:t>
            </a:r>
            <a:r>
              <a:rPr lang="en-US" dirty="0" smtClean="0"/>
              <a:t>            </a:t>
            </a:r>
          </a:p>
          <a:p>
            <a:pPr marL="0" indent="0">
              <a:buNone/>
            </a:pPr>
            <a:r>
              <a:rPr lang="en-US" dirty="0" smtClean="0"/>
              <a:t>                    </a:t>
            </a:r>
            <a:r>
              <a:rPr lang="en-US" dirty="0" err="1" smtClean="0"/>
              <a:t>dihydroxyphenylalanine</a:t>
            </a:r>
            <a:r>
              <a:rPr lang="en-US" dirty="0" smtClean="0"/>
              <a:t>(DOPA)</a:t>
            </a:r>
          </a:p>
          <a:p>
            <a:pPr marL="0" indent="0">
              <a:buNone/>
            </a:pPr>
            <a:r>
              <a:rPr lang="en-US" dirty="0" smtClean="0"/>
              <a:t>                                   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</a:t>
            </a:r>
            <a:r>
              <a:rPr lang="en-US" dirty="0" err="1" smtClean="0"/>
              <a:t>dopaquinone</a:t>
            </a:r>
            <a:endParaRPr lang="en-US" dirty="0" smtClean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own Arrow 3"/>
          <p:cNvSpPr/>
          <p:nvPr/>
        </p:nvSpPr>
        <p:spPr>
          <a:xfrm>
            <a:off x="3923928" y="2204864"/>
            <a:ext cx="144016" cy="5760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wn Arrow 4"/>
          <p:cNvSpPr/>
          <p:nvPr/>
        </p:nvSpPr>
        <p:spPr>
          <a:xfrm>
            <a:off x="3923928" y="3429000"/>
            <a:ext cx="144016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Down Arrow 1"/>
          <p:cNvSpPr/>
          <p:nvPr/>
        </p:nvSpPr>
        <p:spPr>
          <a:xfrm>
            <a:off x="3995936" y="4725144"/>
            <a:ext cx="178870" cy="5972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1" y="1413665"/>
            <a:ext cx="6736233" cy="4909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2533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The conversion of tyrosine to melanin by </a:t>
            </a:r>
            <a:r>
              <a:rPr lang="en-IN" dirty="0" err="1"/>
              <a:t>tyrosinase</a:t>
            </a:r>
            <a:r>
              <a:rPr lang="en-IN" dirty="0"/>
              <a:t> is characterized by a variable lag period. When </a:t>
            </a:r>
            <a:r>
              <a:rPr lang="en-IN" dirty="0" err="1"/>
              <a:t>tyrosinase</a:t>
            </a:r>
            <a:r>
              <a:rPr lang="en-IN" dirty="0"/>
              <a:t> is present in low concentrations, as in epidermal melanocytes of </a:t>
            </a:r>
            <a:r>
              <a:rPr lang="en-IN" dirty="0" err="1"/>
              <a:t>nonirradiated</a:t>
            </a:r>
            <a:r>
              <a:rPr lang="en-IN" dirty="0"/>
              <a:t> skin, </a:t>
            </a:r>
            <a:r>
              <a:rPr lang="en-IN" dirty="0" smtClean="0"/>
              <a:t>the </a:t>
            </a:r>
            <a:r>
              <a:rPr lang="en-IN" dirty="0"/>
              <a:t>lag period is markedly </a:t>
            </a:r>
            <a:r>
              <a:rPr lang="en-IN" dirty="0" smtClean="0"/>
              <a:t>prolonged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4209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651510" indent="-514350">
              <a:buAutoNum type="arabicParenR"/>
            </a:pPr>
            <a:endParaRPr lang="en-IN" dirty="0" smtClean="0"/>
          </a:p>
          <a:p>
            <a:pPr marL="137160" indent="0">
              <a:buNone/>
            </a:pPr>
            <a:r>
              <a:rPr lang="en-IN" sz="3200" dirty="0" smtClean="0">
                <a:latin typeface="+mj-lt"/>
              </a:rPr>
              <a:t>1)Enzymes </a:t>
            </a:r>
            <a:r>
              <a:rPr lang="en-IN" sz="3200" dirty="0">
                <a:latin typeface="+mj-lt"/>
              </a:rPr>
              <a:t>regulate the biosynthesis of </a:t>
            </a:r>
            <a:r>
              <a:rPr lang="en-IN" sz="3200" dirty="0" smtClean="0">
                <a:latin typeface="+mj-lt"/>
              </a:rPr>
              <a:t>melanin</a:t>
            </a:r>
          </a:p>
          <a:p>
            <a:pPr marL="137160" indent="0">
              <a:buNone/>
            </a:pPr>
            <a:r>
              <a:rPr lang="en-IN" sz="3200" dirty="0" smtClean="0">
                <a:latin typeface="+mj-lt"/>
              </a:rPr>
              <a:t>a</a:t>
            </a:r>
            <a:r>
              <a:rPr lang="en-IN" sz="3200" dirty="0">
                <a:latin typeface="+mj-lt"/>
              </a:rPr>
              <a:t>) </a:t>
            </a:r>
            <a:r>
              <a:rPr lang="en-IN" sz="3200" dirty="0" err="1">
                <a:latin typeface="+mj-lt"/>
              </a:rPr>
              <a:t>Tyrosinase</a:t>
            </a:r>
            <a:r>
              <a:rPr lang="en-IN" sz="3200" dirty="0">
                <a:latin typeface="+mj-lt"/>
              </a:rPr>
              <a:t>, </a:t>
            </a:r>
            <a:endParaRPr lang="en-IN" sz="3200" dirty="0" smtClean="0">
              <a:latin typeface="+mj-lt"/>
            </a:endParaRPr>
          </a:p>
          <a:p>
            <a:pPr marL="137160" indent="0">
              <a:buNone/>
            </a:pPr>
            <a:r>
              <a:rPr lang="en-IN" sz="3200" dirty="0" smtClean="0">
                <a:latin typeface="+mj-lt"/>
              </a:rPr>
              <a:t>b</a:t>
            </a:r>
            <a:r>
              <a:rPr lang="en-IN" sz="3200" dirty="0">
                <a:latin typeface="+mj-lt"/>
              </a:rPr>
              <a:t>) TRP-1 (</a:t>
            </a:r>
            <a:r>
              <a:rPr lang="en-IN" sz="3200" dirty="0" err="1">
                <a:latin typeface="+mj-lt"/>
              </a:rPr>
              <a:t>Tyrosinase</a:t>
            </a:r>
            <a:r>
              <a:rPr lang="en-IN" sz="3200" dirty="0">
                <a:latin typeface="+mj-lt"/>
              </a:rPr>
              <a:t>-Related Protein 1) </a:t>
            </a:r>
            <a:endParaRPr lang="en-IN" sz="3200" dirty="0" smtClean="0">
              <a:latin typeface="+mj-lt"/>
            </a:endParaRPr>
          </a:p>
          <a:p>
            <a:pPr marL="137160" indent="0">
              <a:buNone/>
            </a:pPr>
            <a:r>
              <a:rPr lang="en-IN" sz="3200" dirty="0" smtClean="0">
                <a:latin typeface="+mj-lt"/>
              </a:rPr>
              <a:t>c</a:t>
            </a:r>
            <a:r>
              <a:rPr lang="en-IN" sz="3200" dirty="0">
                <a:latin typeface="+mj-lt"/>
              </a:rPr>
              <a:t>) TRP-2 </a:t>
            </a:r>
            <a:endParaRPr lang="en-IN" sz="3200" dirty="0" smtClean="0">
              <a:latin typeface="+mj-lt"/>
            </a:endParaRPr>
          </a:p>
          <a:p>
            <a:pPr marL="137160" indent="0">
              <a:buNone/>
            </a:pPr>
            <a:r>
              <a:rPr lang="en-IN" sz="3200" dirty="0" smtClean="0">
                <a:latin typeface="+mj-lt"/>
              </a:rPr>
              <a:t>d</a:t>
            </a:r>
            <a:r>
              <a:rPr lang="en-IN" sz="3200" dirty="0">
                <a:latin typeface="+mj-lt"/>
              </a:rPr>
              <a:t>) Protein kinase c-beta </a:t>
            </a:r>
            <a:endParaRPr lang="en-IN" sz="3200" dirty="0" smtClean="0">
              <a:latin typeface="+mj-lt"/>
            </a:endParaRPr>
          </a:p>
          <a:p>
            <a:pPr marL="137160" indent="0">
              <a:buNone/>
            </a:pPr>
            <a:endParaRPr lang="en-IN" sz="3200" dirty="0" smtClean="0">
              <a:latin typeface="+mj-lt"/>
            </a:endParaRPr>
          </a:p>
          <a:p>
            <a:pPr marL="137160" indent="0">
              <a:buNone/>
            </a:pPr>
            <a:r>
              <a:rPr lang="en-IN" sz="3200" dirty="0" smtClean="0">
                <a:latin typeface="+mj-lt"/>
              </a:rPr>
              <a:t>2) </a:t>
            </a:r>
            <a:r>
              <a:rPr lang="en-IN" sz="3200" dirty="0">
                <a:latin typeface="+mj-lt"/>
              </a:rPr>
              <a:t>Structural proteins matrix proteins which form a scaffolding upon which the melanin is deposited </a:t>
            </a:r>
            <a:endParaRPr lang="en-IN" sz="3200" dirty="0" smtClean="0">
              <a:latin typeface="+mj-lt"/>
            </a:endParaRPr>
          </a:p>
          <a:p>
            <a:pPr marL="137160" indent="0">
              <a:buNone/>
            </a:pPr>
            <a:r>
              <a:rPr lang="en-IN" sz="3200" dirty="0" smtClean="0">
                <a:latin typeface="+mj-lt"/>
              </a:rPr>
              <a:t>a) Pmel17 </a:t>
            </a:r>
            <a:r>
              <a:rPr lang="en-IN" sz="3200" dirty="0">
                <a:latin typeface="+mj-lt"/>
              </a:rPr>
              <a:t>(</a:t>
            </a:r>
            <a:r>
              <a:rPr lang="en-IN" sz="3200" dirty="0" err="1">
                <a:latin typeface="+mj-lt"/>
              </a:rPr>
              <a:t>Premelanosome</a:t>
            </a:r>
            <a:r>
              <a:rPr lang="en-IN" sz="3200" dirty="0">
                <a:latin typeface="+mj-lt"/>
              </a:rPr>
              <a:t> protein) </a:t>
            </a:r>
            <a:endParaRPr lang="en-IN" sz="3200" dirty="0" smtClean="0">
              <a:latin typeface="+mj-lt"/>
            </a:endParaRPr>
          </a:p>
          <a:p>
            <a:pPr marL="137160" indent="0">
              <a:buNone/>
            </a:pPr>
            <a:r>
              <a:rPr lang="en-IN" sz="3200" dirty="0" smtClean="0">
                <a:latin typeface="+mj-lt"/>
              </a:rPr>
              <a:t>b) MART-1 </a:t>
            </a:r>
            <a:r>
              <a:rPr lang="en-IN" sz="3200" dirty="0">
                <a:latin typeface="+mj-lt"/>
              </a:rPr>
              <a:t>(Melanoma Antigen Recognized by T cells) </a:t>
            </a:r>
          </a:p>
          <a:p>
            <a:pPr marL="137160" indent="0">
              <a:buNone/>
            </a:pPr>
            <a:endParaRPr lang="en-IN" sz="3200" dirty="0" smtClean="0">
              <a:latin typeface="+mj-lt"/>
            </a:endParaRPr>
          </a:p>
          <a:p>
            <a:pPr marL="137160" indent="0">
              <a:buNone/>
            </a:pPr>
            <a:r>
              <a:rPr lang="en-IN" sz="3200" dirty="0" smtClean="0">
                <a:latin typeface="+mj-lt"/>
              </a:rPr>
              <a:t>3) </a:t>
            </a:r>
            <a:r>
              <a:rPr lang="en-IN" sz="3200" dirty="0">
                <a:latin typeface="+mj-lt"/>
              </a:rPr>
              <a:t>Regulatory </a:t>
            </a:r>
            <a:r>
              <a:rPr lang="en-IN" sz="3200" dirty="0" smtClean="0">
                <a:latin typeface="+mj-lt"/>
              </a:rPr>
              <a:t>proteins</a:t>
            </a:r>
          </a:p>
          <a:p>
            <a:pPr marL="137160" indent="0">
              <a:buNone/>
            </a:pPr>
            <a:r>
              <a:rPr lang="en-IN" sz="3200" dirty="0" smtClean="0">
                <a:latin typeface="+mj-lt"/>
              </a:rPr>
              <a:t>a)MC-1R </a:t>
            </a:r>
            <a:r>
              <a:rPr lang="en-IN" sz="3200" dirty="0">
                <a:latin typeface="+mj-lt"/>
              </a:rPr>
              <a:t>(</a:t>
            </a:r>
            <a:r>
              <a:rPr lang="en-IN" sz="3200" dirty="0" err="1">
                <a:latin typeface="+mj-lt"/>
              </a:rPr>
              <a:t>Melanocortin</a:t>
            </a:r>
            <a:r>
              <a:rPr lang="en-IN" sz="3200" dirty="0">
                <a:latin typeface="+mj-lt"/>
              </a:rPr>
              <a:t> 1 receptor) </a:t>
            </a:r>
            <a:endParaRPr lang="en-IN" sz="3200" dirty="0" smtClean="0">
              <a:latin typeface="+mj-lt"/>
            </a:endParaRPr>
          </a:p>
          <a:p>
            <a:pPr marL="651510" indent="-514350">
              <a:buAutoNum type="arabicParenR"/>
            </a:pPr>
            <a:endParaRPr lang="en-IN" sz="3200" dirty="0">
              <a:latin typeface="+mj-lt"/>
            </a:endParaRPr>
          </a:p>
          <a:p>
            <a:pPr marL="137160" indent="0">
              <a:buNone/>
            </a:pPr>
            <a:r>
              <a:rPr lang="en-IN" sz="3200" dirty="0">
                <a:latin typeface="+mj-lt"/>
              </a:rPr>
              <a:t>4</a:t>
            </a:r>
            <a:r>
              <a:rPr lang="en-IN" sz="3200" dirty="0" smtClean="0">
                <a:latin typeface="+mj-lt"/>
              </a:rPr>
              <a:t>) </a:t>
            </a:r>
            <a:r>
              <a:rPr lang="en-IN" sz="3200" dirty="0">
                <a:latin typeface="+mj-lt"/>
              </a:rPr>
              <a:t>Additional </a:t>
            </a:r>
            <a:r>
              <a:rPr lang="en-IN" sz="3200" dirty="0" err="1">
                <a:latin typeface="+mj-lt"/>
              </a:rPr>
              <a:t>melanogenic</a:t>
            </a:r>
            <a:r>
              <a:rPr lang="en-IN" sz="3200" dirty="0">
                <a:latin typeface="+mj-lt"/>
              </a:rPr>
              <a:t> proteins (P Protein, </a:t>
            </a:r>
            <a:r>
              <a:rPr lang="en-IN" sz="3200" dirty="0" err="1">
                <a:latin typeface="+mj-lt"/>
              </a:rPr>
              <a:t>Heterotetrameric</a:t>
            </a:r>
            <a:r>
              <a:rPr lang="en-IN" sz="3200" dirty="0">
                <a:latin typeface="+mj-lt"/>
              </a:rPr>
              <a:t> adaptor protein </a:t>
            </a:r>
            <a:r>
              <a:rPr lang="en-IN" sz="3200" dirty="0" err="1">
                <a:latin typeface="+mj-lt"/>
              </a:rPr>
              <a:t>comlexes</a:t>
            </a:r>
            <a:r>
              <a:rPr lang="en-IN" sz="3200" dirty="0">
                <a:latin typeface="+mj-lt"/>
              </a:rPr>
              <a:t> </a:t>
            </a:r>
            <a:r>
              <a:rPr lang="en-IN" sz="3200" dirty="0" smtClean="0">
                <a:latin typeface="+mj-lt"/>
              </a:rPr>
              <a:t>)</a:t>
            </a:r>
            <a:endParaRPr lang="en-IN" sz="3200" dirty="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0" dirty="0"/>
              <a:t>MELANOGENIC PROTEINS </a:t>
            </a:r>
          </a:p>
        </p:txBody>
      </p:sp>
    </p:spTree>
    <p:extLst>
      <p:ext uri="{BB962C8B-B14F-4D97-AF65-F5344CB8AC3E}">
        <p14:creationId xmlns:p14="http://schemas.microsoft.com/office/powerpoint/2010/main" val="4202142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dirty="0"/>
              <a:t>TRANSFER OF MELANOSOME TO KERATINOCYTE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1) Exocytosis</a:t>
            </a:r>
            <a:r>
              <a:rPr lang="en-IN" dirty="0"/>
              <a:t>: fusion of the </a:t>
            </a:r>
            <a:r>
              <a:rPr lang="en-IN" dirty="0" err="1"/>
              <a:t>melanosomal</a:t>
            </a:r>
            <a:r>
              <a:rPr lang="en-IN" dirty="0"/>
              <a:t> membrane with the melanocyte plasma membrane, </a:t>
            </a:r>
            <a:r>
              <a:rPr lang="en-IN" dirty="0" err="1"/>
              <a:t>melanosome</a:t>
            </a:r>
            <a:r>
              <a:rPr lang="en-IN" dirty="0"/>
              <a:t> is released to the intercellular space and phagocytosis by surrounding keratinocytes </a:t>
            </a:r>
            <a:r>
              <a:rPr lang="en-IN" dirty="0" smtClean="0"/>
              <a:t>occur</a:t>
            </a:r>
          </a:p>
          <a:p>
            <a:pPr marL="0" indent="0">
              <a:buNone/>
            </a:pPr>
            <a:r>
              <a:rPr lang="en-IN" dirty="0" smtClean="0"/>
              <a:t>2) </a:t>
            </a:r>
            <a:r>
              <a:rPr lang="en-IN" dirty="0" err="1" smtClean="0"/>
              <a:t>Cytophagocytosis</a:t>
            </a:r>
            <a:r>
              <a:rPr lang="en-IN" dirty="0"/>
              <a:t>: projection of dendrites into keratinocyte cytoplasm then keratinocytes </a:t>
            </a:r>
            <a:r>
              <a:rPr lang="en-IN" dirty="0" err="1"/>
              <a:t>cytophagocytose</a:t>
            </a:r>
            <a:r>
              <a:rPr lang="en-IN" dirty="0"/>
              <a:t> the tip of a melanocyte </a:t>
            </a:r>
            <a:r>
              <a:rPr lang="en-IN" dirty="0" smtClean="0"/>
              <a:t>dendrite</a:t>
            </a:r>
          </a:p>
          <a:p>
            <a:pPr marL="0" indent="0">
              <a:buNone/>
            </a:pPr>
            <a:r>
              <a:rPr lang="en-US" dirty="0" smtClean="0"/>
              <a:t>This snipping off the tips of dendrites is known as APOCOPATION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3</a:t>
            </a:r>
            <a:r>
              <a:rPr lang="en-IN" dirty="0"/>
              <a:t>) Fusion of melanocyte &amp; keratinocyte plasma membrane create a space through which </a:t>
            </a:r>
            <a:r>
              <a:rPr lang="en-IN" dirty="0" err="1"/>
              <a:t>melanosomes</a:t>
            </a:r>
            <a:r>
              <a:rPr lang="en-IN" dirty="0"/>
              <a:t> are </a:t>
            </a:r>
            <a:r>
              <a:rPr lang="en-IN" dirty="0" smtClean="0"/>
              <a:t>transferred</a:t>
            </a:r>
          </a:p>
          <a:p>
            <a:pPr marL="0" indent="0">
              <a:buNone/>
            </a:pPr>
            <a:r>
              <a:rPr lang="en-IN" dirty="0" smtClean="0"/>
              <a:t>4</a:t>
            </a:r>
            <a:r>
              <a:rPr lang="en-IN" dirty="0"/>
              <a:t>) Shedding of </a:t>
            </a:r>
            <a:r>
              <a:rPr lang="en-IN" dirty="0" err="1"/>
              <a:t>melanosome</a:t>
            </a:r>
            <a:r>
              <a:rPr lang="en-IN" dirty="0"/>
              <a:t>-filled vesicles followed by phagocytosis of the vesicles by keratinocytes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1350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260648"/>
            <a:ext cx="3816424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3888432" cy="5904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1916832"/>
            <a:ext cx="3816424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9137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TYPES OF MELANIN </a:t>
            </a:r>
            <a:endParaRPr lang="en-IN" dirty="0" smtClean="0"/>
          </a:p>
          <a:p>
            <a:r>
              <a:rPr lang="en-IN" dirty="0" err="1" smtClean="0"/>
              <a:t>Eumelanin</a:t>
            </a:r>
            <a:r>
              <a:rPr lang="en-IN" dirty="0" smtClean="0"/>
              <a:t> </a:t>
            </a:r>
            <a:r>
              <a:rPr lang="en-IN" dirty="0"/>
              <a:t>(brown, black) </a:t>
            </a:r>
            <a:endParaRPr lang="en-IN" dirty="0" smtClean="0"/>
          </a:p>
          <a:p>
            <a:r>
              <a:rPr lang="en-IN" dirty="0" err="1" smtClean="0"/>
              <a:t>Pheomelanin</a:t>
            </a:r>
            <a:r>
              <a:rPr lang="en-IN" dirty="0" smtClean="0"/>
              <a:t> </a:t>
            </a:r>
            <a:r>
              <a:rPr lang="en-IN" dirty="0"/>
              <a:t>(</a:t>
            </a:r>
            <a:r>
              <a:rPr lang="en-IN" dirty="0" smtClean="0"/>
              <a:t>red-yellow)</a:t>
            </a:r>
          </a:p>
          <a:p>
            <a:endParaRPr lang="en-US" dirty="0"/>
          </a:p>
          <a:p>
            <a:r>
              <a:rPr lang="en-US" dirty="0" smtClean="0"/>
              <a:t>Stains :</a:t>
            </a:r>
          </a:p>
          <a:p>
            <a:r>
              <a:rPr lang="en-US" dirty="0" smtClean="0"/>
              <a:t>Fontana-</a:t>
            </a:r>
            <a:r>
              <a:rPr lang="en-US" dirty="0" err="1" smtClean="0"/>
              <a:t>masson</a:t>
            </a:r>
            <a:r>
              <a:rPr lang="en-US" dirty="0" smtClean="0"/>
              <a:t> stain</a:t>
            </a:r>
          </a:p>
          <a:p>
            <a:r>
              <a:rPr lang="en-US" dirty="0" smtClean="0"/>
              <a:t>Bleaching agents like hydrogen peroxide, potassium </a:t>
            </a:r>
            <a:r>
              <a:rPr lang="en-US" dirty="0" err="1" smtClean="0"/>
              <a:t>permangnate</a:t>
            </a:r>
            <a:endParaRPr lang="en-US" dirty="0" smtClean="0"/>
          </a:p>
          <a:p>
            <a:r>
              <a:rPr lang="en-US" dirty="0" smtClean="0"/>
              <a:t>Immunohistochemistry with antibodies to S-100 protein, </a:t>
            </a:r>
            <a:r>
              <a:rPr lang="en-US" dirty="0" smtClean="0"/>
              <a:t>HMB-45, MART-1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662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8766154"/>
              </p:ext>
            </p:extLst>
          </p:nvPr>
        </p:nvGraphicFramePr>
        <p:xfrm>
          <a:off x="467544" y="404664"/>
          <a:ext cx="8229600" cy="56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76065">
                <a:tc>
                  <a:txBody>
                    <a:bodyPr/>
                    <a:lstStyle/>
                    <a:p>
                      <a:r>
                        <a:rPr lang="en-US" dirty="0" smtClean="0"/>
                        <a:t>EUMELANINS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PHEOMELANINS</a:t>
                      </a:r>
                      <a:endParaRPr lang="en-IN" dirty="0"/>
                    </a:p>
                  </a:txBody>
                  <a:tcPr/>
                </a:tc>
              </a:tr>
              <a:tr h="819091">
                <a:tc>
                  <a:txBody>
                    <a:bodyPr/>
                    <a:lstStyle/>
                    <a:p>
                      <a:r>
                        <a:rPr lang="en-US" dirty="0" smtClean="0"/>
                        <a:t>Black</a:t>
                      </a:r>
                      <a:r>
                        <a:rPr lang="en-US" baseline="0" dirty="0" smtClean="0"/>
                        <a:t> or brown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Yellowish to reddish brown</a:t>
                      </a:r>
                      <a:endParaRPr lang="en-IN" dirty="0"/>
                    </a:p>
                  </a:txBody>
                  <a:tcPr/>
                </a:tc>
              </a:tr>
              <a:tr h="819091">
                <a:tc>
                  <a:txBody>
                    <a:bodyPr/>
                    <a:lstStyle/>
                    <a:p>
                      <a:r>
                        <a:rPr lang="en-US" dirty="0" smtClean="0"/>
                        <a:t>Insoluble in all solvents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Alkali soluble</a:t>
                      </a:r>
                      <a:endParaRPr lang="en-IN" dirty="0"/>
                    </a:p>
                  </a:txBody>
                  <a:tcPr/>
                </a:tc>
              </a:tr>
              <a:tr h="1170129">
                <a:tc>
                  <a:txBody>
                    <a:bodyPr/>
                    <a:lstStyle/>
                    <a:p>
                      <a:r>
                        <a:rPr lang="en-US" dirty="0" smtClean="0"/>
                        <a:t>Nitrogenous pigment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Contains 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sulphur</a:t>
                      </a:r>
                      <a:r>
                        <a:rPr lang="en-US" baseline="0" dirty="0" smtClean="0"/>
                        <a:t> in addition to nitrogen</a:t>
                      </a:r>
                      <a:endParaRPr lang="en-IN" dirty="0"/>
                    </a:p>
                  </a:txBody>
                  <a:tcPr/>
                </a:tc>
              </a:tr>
              <a:tr h="14401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819091">
                <a:tc>
                  <a:txBody>
                    <a:bodyPr/>
                    <a:lstStyle/>
                    <a:p>
                      <a:r>
                        <a:rPr lang="en-US" dirty="0" smtClean="0"/>
                        <a:t>Manufactured in ellipsoidal </a:t>
                      </a:r>
                      <a:r>
                        <a:rPr lang="en-US" dirty="0" err="1" smtClean="0"/>
                        <a:t>melanosomes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Manufactured in spherical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melanosomes</a:t>
                      </a:r>
                      <a:endParaRPr lang="en-IN" dirty="0"/>
                    </a:p>
                  </a:txBody>
                  <a:tcPr/>
                </a:tc>
              </a:tr>
              <a:tr h="399325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Females&gt; males</a:t>
                      </a:r>
                      <a:endParaRPr lang="en-IN" dirty="0"/>
                    </a:p>
                  </a:txBody>
                  <a:tcPr/>
                </a:tc>
              </a:tr>
              <a:tr h="12601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Present in lips, nipples, vagina, glans penis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3301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The amount produced is dependent on:</a:t>
            </a:r>
          </a:p>
          <a:p>
            <a:pPr marL="0" indent="0">
              <a:buNone/>
            </a:pPr>
            <a:r>
              <a:rPr lang="en-IN" dirty="0"/>
              <a:t>  -genetics</a:t>
            </a:r>
          </a:p>
          <a:p>
            <a:pPr marL="0" indent="0">
              <a:buNone/>
            </a:pPr>
            <a:r>
              <a:rPr lang="en-IN" dirty="0"/>
              <a:t>  -the amount and the wavelengths of ultraviolet light received</a:t>
            </a:r>
          </a:p>
          <a:p>
            <a:pPr marL="0" indent="0">
              <a:buNone/>
            </a:pPr>
            <a:r>
              <a:rPr lang="en-IN" dirty="0"/>
              <a:t>  -the amount of melanocyte-stimulating hormone(MSH) secreted</a:t>
            </a:r>
          </a:p>
          <a:p>
            <a:pPr marL="0" indent="0">
              <a:buNone/>
            </a:pPr>
            <a:r>
              <a:rPr lang="en-IN" dirty="0"/>
              <a:t>  - the effect of </a:t>
            </a:r>
            <a:r>
              <a:rPr lang="en-IN" dirty="0" err="1"/>
              <a:t>melanoccytestimulatingg</a:t>
            </a:r>
            <a:r>
              <a:rPr lang="en-IN" dirty="0"/>
              <a:t> chemicals  like  </a:t>
            </a:r>
            <a:r>
              <a:rPr lang="en-IN" dirty="0" err="1" smtClean="0"/>
              <a:t>furocoumarins</a:t>
            </a:r>
            <a:r>
              <a:rPr lang="en-IN" dirty="0" smtClean="0"/>
              <a:t>(</a:t>
            </a:r>
            <a:r>
              <a:rPr lang="en-IN" dirty="0" err="1" smtClean="0"/>
              <a:t>psoralen</a:t>
            </a:r>
            <a:r>
              <a:rPr lang="en-IN" dirty="0" smtClean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2089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Factors modifying </a:t>
            </a:r>
            <a:r>
              <a:rPr lang="en-US" dirty="0" err="1" smtClean="0"/>
              <a:t>melanogenesis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Increase </a:t>
            </a:r>
          </a:p>
          <a:p>
            <a:pPr marL="0" indent="0">
              <a:buNone/>
            </a:pPr>
            <a:r>
              <a:rPr lang="en-US" dirty="0" smtClean="0"/>
              <a:t>UV radiation</a:t>
            </a:r>
          </a:p>
          <a:p>
            <a:pPr marL="0" indent="0">
              <a:buNone/>
            </a:pPr>
            <a:r>
              <a:rPr lang="en-US" dirty="0" smtClean="0"/>
              <a:t>Hormones : MSH, ACTH, </a:t>
            </a:r>
          </a:p>
          <a:p>
            <a:pPr marL="0" indent="0">
              <a:buNone/>
            </a:pPr>
            <a:r>
              <a:rPr lang="en-US" dirty="0" err="1" smtClean="0"/>
              <a:t>lipotropins</a:t>
            </a:r>
            <a:r>
              <a:rPr lang="en-US" dirty="0" smtClean="0"/>
              <a:t>, estrogen,</a:t>
            </a:r>
          </a:p>
          <a:p>
            <a:pPr marL="0" indent="0">
              <a:buNone/>
            </a:pPr>
            <a:r>
              <a:rPr lang="en-US" dirty="0" smtClean="0"/>
              <a:t> progesterone, </a:t>
            </a:r>
            <a:r>
              <a:rPr lang="en-US" dirty="0" err="1" smtClean="0"/>
              <a:t>thyroxine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988840"/>
            <a:ext cx="3561978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5015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755984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IN" dirty="0"/>
              <a:t>PROOPIOMELANOCORTIN  AND  DERIVED  </a:t>
            </a:r>
            <a:r>
              <a:rPr lang="en-IN" dirty="0" smtClean="0"/>
              <a:t>PEPTIDES</a:t>
            </a:r>
          </a:p>
          <a:p>
            <a:r>
              <a:rPr lang="en-IN" dirty="0" smtClean="0"/>
              <a:t> MSH and </a:t>
            </a:r>
            <a:r>
              <a:rPr lang="en-IN" dirty="0"/>
              <a:t>ACTH  are potent stimulators  of</a:t>
            </a:r>
          </a:p>
          <a:p>
            <a:pPr marL="109728" indent="0">
              <a:buNone/>
            </a:pPr>
            <a:r>
              <a:rPr lang="en-IN" dirty="0" err="1" smtClean="0"/>
              <a:t>Melanogenesis</a:t>
            </a:r>
            <a:endParaRPr lang="en-IN" dirty="0" smtClean="0"/>
          </a:p>
          <a:p>
            <a:r>
              <a:rPr lang="en-IN" dirty="0" smtClean="0"/>
              <a:t> synthesized by </a:t>
            </a:r>
            <a:r>
              <a:rPr lang="en-IN" dirty="0" err="1" smtClean="0"/>
              <a:t>pituitarygland</a:t>
            </a:r>
            <a:r>
              <a:rPr lang="en-IN" dirty="0"/>
              <a:t>, </a:t>
            </a:r>
            <a:r>
              <a:rPr lang="en-IN" dirty="0" smtClean="0"/>
              <a:t>&amp; </a:t>
            </a:r>
            <a:r>
              <a:rPr lang="en-IN" dirty="0"/>
              <a:t>epidermal  </a:t>
            </a:r>
            <a:r>
              <a:rPr lang="en-IN" dirty="0" smtClean="0"/>
              <a:t>keratinocytes</a:t>
            </a:r>
          </a:p>
          <a:p>
            <a:r>
              <a:rPr lang="en-IN" dirty="0"/>
              <a:t>Has effect  on  </a:t>
            </a:r>
            <a:r>
              <a:rPr lang="en-IN" dirty="0" err="1" smtClean="0"/>
              <a:t>melanogenic</a:t>
            </a:r>
            <a:r>
              <a:rPr lang="en-IN" dirty="0" smtClean="0"/>
              <a:t> proteins  </a:t>
            </a:r>
            <a:r>
              <a:rPr lang="en-IN" dirty="0"/>
              <a:t>and  </a:t>
            </a:r>
            <a:r>
              <a:rPr lang="en-IN" dirty="0" err="1"/>
              <a:t>eumelanin</a:t>
            </a:r>
            <a:r>
              <a:rPr lang="en-IN" dirty="0"/>
              <a:t>  </a:t>
            </a:r>
            <a:r>
              <a:rPr lang="en-IN" dirty="0" smtClean="0"/>
              <a:t>synthesis </a:t>
            </a:r>
            <a:endParaRPr lang="en-IN" dirty="0"/>
          </a:p>
          <a:p>
            <a:r>
              <a:rPr lang="en-IN" dirty="0"/>
              <a:t>Enhances the repair  of  UV-induced  DNA  damage in melanocytes</a:t>
            </a:r>
          </a:p>
          <a:p>
            <a:endParaRPr lang="en-IN" dirty="0"/>
          </a:p>
          <a:p>
            <a:pPr marL="109728" indent="0">
              <a:buNone/>
            </a:pP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7544" y="116632"/>
            <a:ext cx="7715200" cy="1012974"/>
          </a:xfrm>
        </p:spPr>
        <p:txBody>
          <a:bodyPr/>
          <a:lstStyle/>
          <a:p>
            <a:r>
              <a:rPr lang="en-IN" dirty="0" err="1"/>
              <a:t>Melanogenic</a:t>
            </a:r>
            <a:r>
              <a:rPr lang="en-IN" dirty="0"/>
              <a:t>  </a:t>
            </a:r>
            <a:r>
              <a:rPr lang="en-IN" dirty="0" smtClean="0"/>
              <a:t>Stimulator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57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7504" y="116632"/>
            <a:ext cx="8856984" cy="5890659"/>
          </a:xfrm>
        </p:spPr>
        <p:txBody>
          <a:bodyPr>
            <a:normAutofit fontScale="92500" lnSpcReduction="20000"/>
          </a:bodyPr>
          <a:lstStyle/>
          <a:p>
            <a:pPr marL="109728" indent="0">
              <a:buNone/>
            </a:pPr>
            <a:r>
              <a:rPr lang="en-IN" dirty="0"/>
              <a:t>ENDOTHELIN-I  </a:t>
            </a:r>
            <a:endParaRPr lang="en-IN" dirty="0" smtClean="0"/>
          </a:p>
          <a:p>
            <a:pPr marL="109728" indent="0">
              <a:buNone/>
            </a:pPr>
            <a:r>
              <a:rPr lang="en-IN" dirty="0"/>
              <a:t>A</a:t>
            </a:r>
            <a:r>
              <a:rPr lang="en-IN" dirty="0" smtClean="0"/>
              <a:t>ppears  </a:t>
            </a:r>
            <a:r>
              <a:rPr lang="en-IN" dirty="0"/>
              <a:t>to play a  </a:t>
            </a:r>
            <a:r>
              <a:rPr lang="en-IN" dirty="0" smtClean="0"/>
              <a:t>role in  mature  melanocytes, inducing  </a:t>
            </a:r>
            <a:r>
              <a:rPr lang="en-IN" dirty="0" err="1" smtClean="0"/>
              <a:t>melanogenesis</a:t>
            </a:r>
            <a:r>
              <a:rPr lang="en-IN" dirty="0" smtClean="0"/>
              <a:t>  by  activating  </a:t>
            </a:r>
            <a:r>
              <a:rPr lang="en-IN" dirty="0" err="1" smtClean="0"/>
              <a:t>tyrosinase</a:t>
            </a:r>
            <a:r>
              <a:rPr lang="en-IN" dirty="0" smtClean="0"/>
              <a:t>  and increasing  </a:t>
            </a:r>
            <a:r>
              <a:rPr lang="en-IN" dirty="0"/>
              <a:t>TRP-l  </a:t>
            </a:r>
            <a:r>
              <a:rPr lang="en-IN" dirty="0" smtClean="0"/>
              <a:t>levels</a:t>
            </a:r>
          </a:p>
          <a:p>
            <a:pPr marL="109728" indent="0">
              <a:buNone/>
            </a:pPr>
            <a:r>
              <a:rPr lang="en-IN" dirty="0" smtClean="0"/>
              <a:t>  </a:t>
            </a:r>
            <a:r>
              <a:rPr lang="en-IN" dirty="0"/>
              <a:t>ETI  </a:t>
            </a:r>
            <a:r>
              <a:rPr lang="en-IN" dirty="0" smtClean="0"/>
              <a:t>also leads  </a:t>
            </a:r>
            <a:r>
              <a:rPr lang="en-IN" dirty="0"/>
              <a:t>to  melanocyte  </a:t>
            </a:r>
            <a:r>
              <a:rPr lang="en-IN" dirty="0" smtClean="0"/>
              <a:t>proliferation and  </a:t>
            </a:r>
            <a:r>
              <a:rPr lang="en-IN" dirty="0"/>
              <a:t>promotes  dendrite  </a:t>
            </a:r>
            <a:r>
              <a:rPr lang="en-IN" dirty="0" smtClean="0"/>
              <a:t>formation</a:t>
            </a:r>
          </a:p>
          <a:p>
            <a:pPr marL="109728" indent="0">
              <a:buNone/>
            </a:pPr>
            <a:endParaRPr lang="en-US" dirty="0"/>
          </a:p>
          <a:p>
            <a:pPr marL="109728" indent="0">
              <a:buNone/>
            </a:pPr>
            <a:endParaRPr lang="en-IN" dirty="0" smtClean="0"/>
          </a:p>
          <a:p>
            <a:pPr marL="109728" indent="0">
              <a:buNone/>
            </a:pPr>
            <a:r>
              <a:rPr lang="en-IN" dirty="0"/>
              <a:t>INFLAMMATORY  MEDIAT0RS  </a:t>
            </a:r>
          </a:p>
          <a:p>
            <a:pPr marL="109728" indent="0">
              <a:buNone/>
            </a:pPr>
            <a:r>
              <a:rPr lang="en-IN" dirty="0"/>
              <a:t>Can affect  skin pigmentation</a:t>
            </a:r>
          </a:p>
          <a:p>
            <a:pPr marL="109728" indent="0">
              <a:buNone/>
            </a:pPr>
            <a:r>
              <a:rPr lang="en-IN" dirty="0" smtClean="0"/>
              <a:t>PGs  </a:t>
            </a:r>
            <a:r>
              <a:rPr lang="en-IN" dirty="0"/>
              <a:t>(</a:t>
            </a:r>
            <a:r>
              <a:rPr lang="en-IN" dirty="0" err="1"/>
              <a:t>arachidonic</a:t>
            </a:r>
            <a:r>
              <a:rPr lang="en-IN" dirty="0"/>
              <a:t>  </a:t>
            </a:r>
            <a:r>
              <a:rPr lang="en-IN" dirty="0" err="1"/>
              <a:t>acidderived</a:t>
            </a:r>
            <a:r>
              <a:rPr lang="en-IN" dirty="0"/>
              <a:t>  metabolites)  and  </a:t>
            </a:r>
            <a:r>
              <a:rPr lang="en-IN" dirty="0" err="1"/>
              <a:t>leukotrienes</a:t>
            </a:r>
            <a:r>
              <a:rPr lang="en-IN" dirty="0"/>
              <a:t>  affect melanocyte  function </a:t>
            </a:r>
            <a:endParaRPr lang="en-IN" dirty="0" smtClean="0"/>
          </a:p>
          <a:p>
            <a:pPr marL="109728" indent="0">
              <a:buNone/>
            </a:pPr>
            <a:endParaRPr lang="en-IN" dirty="0"/>
          </a:p>
          <a:p>
            <a:pPr marL="109728" indent="0">
              <a:buNone/>
            </a:pPr>
            <a:r>
              <a:rPr lang="en-IN" dirty="0"/>
              <a:t>Level is elevated  in  sunburned  skin and in  a</a:t>
            </a:r>
          </a:p>
          <a:p>
            <a:pPr marL="109728" indent="0">
              <a:buNone/>
            </a:pPr>
            <a:r>
              <a:rPr lang="en-IN" dirty="0"/>
              <a:t>variety  of  inflammatory  </a:t>
            </a:r>
            <a:r>
              <a:rPr lang="en-IN" dirty="0" err="1"/>
              <a:t>dermatoses</a:t>
            </a:r>
            <a:r>
              <a:rPr lang="en-IN" dirty="0"/>
              <a:t>,  including  atopic  dermatitis </a:t>
            </a:r>
          </a:p>
          <a:p>
            <a:pPr marL="109728" indent="0">
              <a:buNone/>
            </a:pPr>
            <a:endParaRPr lang="en-IN" dirty="0" smtClean="0"/>
          </a:p>
          <a:p>
            <a:pPr marL="109728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6782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IN" dirty="0"/>
              <a:t>Decrease </a:t>
            </a:r>
          </a:p>
          <a:p>
            <a:r>
              <a:rPr lang="en-IN" dirty="0"/>
              <a:t>ageing</a:t>
            </a:r>
          </a:p>
          <a:p>
            <a:r>
              <a:rPr lang="en-IN" dirty="0" smtClean="0"/>
              <a:t>Reduction </a:t>
            </a:r>
            <a:r>
              <a:rPr lang="en-IN" dirty="0"/>
              <a:t>in number &amp; activity of melanocytes occurs with ageing i.e. 6-8% per decade, more of follicular melanocytes &amp; spared epidermal melanocytes from sun exposure are declined leading to </a:t>
            </a:r>
            <a:r>
              <a:rPr lang="en-IN" dirty="0" err="1"/>
              <a:t>graying</a:t>
            </a:r>
            <a:r>
              <a:rPr lang="en-IN" dirty="0"/>
              <a:t> of hair &amp; lightening of skin </a:t>
            </a:r>
            <a:r>
              <a:rPr lang="en-IN" dirty="0" err="1" smtClean="0"/>
              <a:t>color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2054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COMPARATIVE FEATURES OF PREMATURE, NEWBORN, AND ADULT SKIN </a:t>
            </a:r>
            <a:r>
              <a:rPr lang="en-IN" dirty="0" smtClean="0"/>
              <a:t>MELANOCYTES</a:t>
            </a:r>
          </a:p>
          <a:p>
            <a:pPr marL="0" indent="0">
              <a:buNone/>
            </a:pPr>
            <a:r>
              <a:rPr lang="en-IN" dirty="0" smtClean="0"/>
              <a:t>• </a:t>
            </a:r>
            <a:r>
              <a:rPr lang="en-IN" dirty="0"/>
              <a:t>Adult: Numbers decrease with age; melanin production </a:t>
            </a:r>
            <a:r>
              <a:rPr lang="en-IN" dirty="0" smtClean="0"/>
              <a:t>depend </a:t>
            </a:r>
            <a:r>
              <a:rPr lang="en-IN" dirty="0"/>
              <a:t>on skin type, body area </a:t>
            </a:r>
            <a:r>
              <a:rPr lang="en-IN" dirty="0" smtClean="0"/>
              <a:t>  </a:t>
            </a:r>
          </a:p>
          <a:p>
            <a:pPr marL="0" indent="0">
              <a:buNone/>
            </a:pPr>
            <a:r>
              <a:rPr lang="en-IN" dirty="0" smtClean="0"/>
              <a:t>• </a:t>
            </a:r>
            <a:r>
              <a:rPr lang="en-IN" dirty="0" err="1"/>
              <a:t>Newborn</a:t>
            </a:r>
            <a:r>
              <a:rPr lang="en-IN" dirty="0"/>
              <a:t>: Similar number of cells to young adult; low melanin production </a:t>
            </a:r>
            <a:r>
              <a:rPr lang="en-IN" dirty="0" smtClean="0"/>
              <a:t>                                     • </a:t>
            </a:r>
            <a:r>
              <a:rPr lang="en-IN" dirty="0"/>
              <a:t>Premature: High number of cells; few mature </a:t>
            </a:r>
            <a:r>
              <a:rPr lang="en-IN" dirty="0" err="1"/>
              <a:t>melanosomes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8469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FUNCTIONS </a:t>
            </a:r>
            <a:r>
              <a:rPr lang="en-IN" dirty="0"/>
              <a:t>OF MELANIN 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1) Provide </a:t>
            </a:r>
            <a:r>
              <a:rPr lang="en-IN" dirty="0"/>
              <a:t>protection against UV-induced DNA damage by absorbing &amp; scattering UV radiation (</a:t>
            </a:r>
            <a:r>
              <a:rPr lang="en-IN" dirty="0" smtClean="0"/>
              <a:t>280-400 nm) </a:t>
            </a:r>
          </a:p>
          <a:p>
            <a:pPr marL="0" indent="0">
              <a:buNone/>
            </a:pPr>
            <a:r>
              <a:rPr lang="en-IN" dirty="0" smtClean="0"/>
              <a:t>2) Gives </a:t>
            </a:r>
            <a:r>
              <a:rPr lang="en-IN" dirty="0"/>
              <a:t>the skin, eyes, hair their </a:t>
            </a:r>
            <a:r>
              <a:rPr lang="en-IN" dirty="0" err="1" smtClean="0"/>
              <a:t>color</a:t>
            </a:r>
            <a:r>
              <a:rPr lang="en-IN" dirty="0" smtClean="0"/>
              <a:t> </a:t>
            </a:r>
          </a:p>
          <a:p>
            <a:pPr marL="0" indent="0">
              <a:buNone/>
            </a:pPr>
            <a:r>
              <a:rPr lang="en-IN" dirty="0" smtClean="0"/>
              <a:t>3) Neutralizer </a:t>
            </a:r>
            <a:r>
              <a:rPr lang="en-IN" dirty="0"/>
              <a:t>of toxic, free radical oxygen derivatives, by products of various inflammatory </a:t>
            </a:r>
            <a:r>
              <a:rPr lang="en-IN" dirty="0" smtClean="0"/>
              <a:t>processes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9733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 NORMAL SKIN COLOR </a:t>
            </a:r>
          </a:p>
          <a:p>
            <a:pPr marL="0" indent="0">
              <a:buNone/>
            </a:pPr>
            <a:r>
              <a:rPr lang="en-US" dirty="0" smtClean="0"/>
              <a:t>Depends on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/>
              <a:t>Epidermis - by exogenously produced carotenoids (yellow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/>
              <a:t>- by endogenously produced </a:t>
            </a:r>
            <a:r>
              <a:rPr lang="en-IN" dirty="0" smtClean="0"/>
              <a:t>melanin </a:t>
            </a:r>
            <a:r>
              <a:rPr lang="en-IN" dirty="0"/>
              <a:t>(brown, black, Or yellow-red) amount &amp; </a:t>
            </a:r>
            <a:r>
              <a:rPr lang="en-IN" dirty="0" smtClean="0"/>
              <a:t>location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thickness </a:t>
            </a:r>
            <a:r>
              <a:rPr lang="en-IN" dirty="0"/>
              <a:t>of </a:t>
            </a:r>
            <a:r>
              <a:rPr lang="en-IN" dirty="0" smtClean="0"/>
              <a:t>the granular layer</a:t>
            </a:r>
          </a:p>
          <a:p>
            <a:pPr marL="0" indent="0">
              <a:buNone/>
            </a:pPr>
            <a:endParaRPr lang="en-IN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082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Skin </a:t>
            </a:r>
            <a:r>
              <a:rPr lang="en-US" dirty="0" err="1" smtClean="0"/>
              <a:t>colour</a:t>
            </a:r>
            <a:r>
              <a:rPr lang="en-US" dirty="0" smtClean="0"/>
              <a:t> can be </a:t>
            </a:r>
          </a:p>
          <a:p>
            <a:pPr marL="0" indent="0">
              <a:buNone/>
            </a:pPr>
            <a:r>
              <a:rPr lang="en-US" dirty="0" smtClean="0"/>
              <a:t>Constitutive: genetically determined</a:t>
            </a:r>
          </a:p>
          <a:p>
            <a:pPr marL="0" indent="0">
              <a:buNone/>
            </a:pPr>
            <a:r>
              <a:rPr lang="en-US" dirty="0" smtClean="0"/>
              <a:t>Based on </a:t>
            </a:r>
            <a:r>
              <a:rPr lang="en-IN" dirty="0" smtClean="0"/>
              <a:t>biological potentiality </a:t>
            </a:r>
            <a:r>
              <a:rPr lang="en-IN" dirty="0"/>
              <a:t>of epidermal melanin units </a:t>
            </a:r>
          </a:p>
          <a:p>
            <a:pPr marL="0" indent="0">
              <a:buNone/>
            </a:pPr>
            <a:r>
              <a:rPr lang="en-US" dirty="0" smtClean="0"/>
              <a:t>Facultative: induced pigmentation because of UV radiation, hormones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985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84784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Variations in skin </a:t>
            </a:r>
            <a:r>
              <a:rPr lang="en-IN" dirty="0" err="1"/>
              <a:t>color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US" dirty="0" smtClean="0"/>
              <a:t>Depends on:</a:t>
            </a:r>
            <a:endParaRPr lang="en-IN" dirty="0" smtClean="0"/>
          </a:p>
          <a:p>
            <a:pPr marL="457200" indent="-457200"/>
            <a:r>
              <a:rPr lang="en-IN" dirty="0" smtClean="0"/>
              <a:t>the number and size </a:t>
            </a:r>
            <a:r>
              <a:rPr lang="en-IN" dirty="0"/>
              <a:t>of </a:t>
            </a:r>
            <a:r>
              <a:rPr lang="en-IN" dirty="0" err="1" smtClean="0"/>
              <a:t>melanosomes</a:t>
            </a:r>
            <a:endParaRPr lang="en-IN" dirty="0" smtClean="0"/>
          </a:p>
          <a:p>
            <a:pPr marL="457200" indent="-457200"/>
            <a:r>
              <a:rPr lang="en-IN" dirty="0" smtClean="0"/>
              <a:t>the </a:t>
            </a:r>
            <a:r>
              <a:rPr lang="en-IN" dirty="0"/>
              <a:t>degree  of </a:t>
            </a:r>
            <a:r>
              <a:rPr lang="en-IN" dirty="0" err="1" smtClean="0"/>
              <a:t>melanization</a:t>
            </a:r>
            <a:endParaRPr lang="en-IN" dirty="0" smtClean="0"/>
          </a:p>
          <a:p>
            <a:pPr marL="457200" indent="-457200"/>
            <a:r>
              <a:rPr lang="en-IN" dirty="0" smtClean="0"/>
              <a:t>Degree of </a:t>
            </a:r>
            <a:r>
              <a:rPr lang="en-IN" dirty="0" err="1" smtClean="0"/>
              <a:t>melanosome</a:t>
            </a:r>
            <a:r>
              <a:rPr lang="en-IN" dirty="0" smtClean="0"/>
              <a:t> degradation</a:t>
            </a:r>
          </a:p>
          <a:p>
            <a:pPr marL="457200" indent="-457200"/>
            <a:r>
              <a:rPr lang="en-IN" dirty="0" smtClean="0"/>
              <a:t>the </a:t>
            </a:r>
            <a:r>
              <a:rPr lang="en-IN" dirty="0"/>
              <a:t>distribution of the epidermal  melanin </a:t>
            </a:r>
            <a:r>
              <a:rPr lang="en-IN" dirty="0" smtClean="0"/>
              <a:t>unit</a:t>
            </a:r>
          </a:p>
          <a:p>
            <a:pPr marL="457200" indent="-457200"/>
            <a:r>
              <a:rPr lang="en-US" dirty="0" smtClean="0"/>
              <a:t>Type of melanin </a:t>
            </a:r>
            <a:r>
              <a:rPr lang="en-IN" dirty="0"/>
              <a:t>(</a:t>
            </a:r>
            <a:r>
              <a:rPr lang="en-IN" dirty="0" err="1"/>
              <a:t>eumelanin</a:t>
            </a:r>
            <a:r>
              <a:rPr lang="en-IN" dirty="0"/>
              <a:t>, or </a:t>
            </a:r>
            <a:r>
              <a:rPr lang="en-IN" dirty="0" err="1"/>
              <a:t>pheomelanin</a:t>
            </a:r>
            <a:r>
              <a:rPr lang="en-IN" dirty="0"/>
              <a:t>) </a:t>
            </a:r>
            <a:endParaRPr lang="en-IN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And does not depend on no. of melanocyte 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03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Hair </a:t>
            </a:r>
            <a:r>
              <a:rPr lang="en-US" dirty="0" err="1" smtClean="0"/>
              <a:t>colour</a:t>
            </a:r>
            <a:r>
              <a:rPr lang="en-US" dirty="0" smtClean="0"/>
              <a:t>: </a:t>
            </a:r>
            <a:r>
              <a:rPr lang="en-IN" dirty="0" smtClean="0"/>
              <a:t>the </a:t>
            </a:r>
            <a:r>
              <a:rPr lang="en-IN" dirty="0"/>
              <a:t>follicular melanin unit undergoes cyclic modifications in coordination with hair </a:t>
            </a:r>
            <a:r>
              <a:rPr lang="en-IN" dirty="0" smtClean="0"/>
              <a:t>cycle</a:t>
            </a:r>
          </a:p>
          <a:p>
            <a:r>
              <a:rPr lang="en-IN" dirty="0" smtClean="0"/>
              <a:t> </a:t>
            </a:r>
            <a:r>
              <a:rPr lang="en-IN" dirty="0"/>
              <a:t>Hair </a:t>
            </a:r>
            <a:r>
              <a:rPr lang="en-IN" dirty="0" err="1"/>
              <a:t>color</a:t>
            </a:r>
            <a:r>
              <a:rPr lang="en-IN" dirty="0"/>
              <a:t> is determined by amount of melanin transferred to keratinocytes forming the hair shaft as well as by the ratio of </a:t>
            </a:r>
            <a:r>
              <a:rPr lang="en-IN" dirty="0" err="1"/>
              <a:t>eumelanin</a:t>
            </a:r>
            <a:r>
              <a:rPr lang="en-IN" dirty="0"/>
              <a:t> to </a:t>
            </a:r>
            <a:r>
              <a:rPr lang="en-IN" dirty="0" err="1"/>
              <a:t>pheomelanin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084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8080132"/>
              </p:ext>
            </p:extLst>
          </p:nvPr>
        </p:nvGraphicFramePr>
        <p:xfrm>
          <a:off x="539552" y="1052736"/>
          <a:ext cx="8229600" cy="5046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2552"/>
                <a:gridCol w="2016224"/>
                <a:gridCol w="4330824"/>
              </a:tblGrid>
              <a:tr h="561837">
                <a:tc>
                  <a:txBody>
                    <a:bodyPr/>
                    <a:lstStyle/>
                    <a:p>
                      <a:r>
                        <a:rPr lang="en-US" dirty="0" smtClean="0"/>
                        <a:t>SKIN PHOTOTYPE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SKIN COLOUR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RESPONSE TO UV IRRADIATION</a:t>
                      </a:r>
                      <a:endParaRPr lang="en-IN" dirty="0"/>
                    </a:p>
                  </a:txBody>
                  <a:tcPr/>
                </a:tc>
              </a:tr>
              <a:tr h="734453">
                <a:tc>
                  <a:txBody>
                    <a:bodyPr/>
                    <a:lstStyle/>
                    <a:p>
                      <a:r>
                        <a:rPr lang="en-US" dirty="0" smtClean="0"/>
                        <a:t>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White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Always burns , does not tan</a:t>
                      </a:r>
                      <a:endParaRPr lang="en-IN" dirty="0"/>
                    </a:p>
                  </a:txBody>
                  <a:tcPr/>
                </a:tc>
              </a:tr>
              <a:tr h="734453">
                <a:tc>
                  <a:txBody>
                    <a:bodyPr/>
                    <a:lstStyle/>
                    <a:p>
                      <a:r>
                        <a:rPr lang="en-US" dirty="0" smtClean="0"/>
                        <a:t>II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White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Burns easily , tans with difficulty</a:t>
                      </a:r>
                      <a:endParaRPr lang="en-IN" dirty="0"/>
                    </a:p>
                  </a:txBody>
                  <a:tcPr/>
                </a:tc>
              </a:tr>
              <a:tr h="734453">
                <a:tc>
                  <a:txBody>
                    <a:bodyPr/>
                    <a:lstStyle/>
                    <a:p>
                      <a:r>
                        <a:rPr lang="en-US" dirty="0" smtClean="0"/>
                        <a:t>III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Beige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Mild burns , tans gradually </a:t>
                      </a:r>
                      <a:endParaRPr lang="en-IN" dirty="0"/>
                    </a:p>
                  </a:txBody>
                  <a:tcPr/>
                </a:tc>
              </a:tr>
              <a:tr h="734453">
                <a:tc>
                  <a:txBody>
                    <a:bodyPr/>
                    <a:lstStyle/>
                    <a:p>
                      <a:r>
                        <a:rPr lang="en-US" dirty="0" smtClean="0"/>
                        <a:t>IV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Brown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Rarely</a:t>
                      </a:r>
                      <a:r>
                        <a:rPr lang="en-US" baseline="0" dirty="0" smtClean="0"/>
                        <a:t> burns , tans easily</a:t>
                      </a:r>
                      <a:endParaRPr lang="en-IN" dirty="0"/>
                    </a:p>
                  </a:txBody>
                  <a:tcPr/>
                </a:tc>
              </a:tr>
              <a:tr h="734453">
                <a:tc>
                  <a:txBody>
                    <a:bodyPr/>
                    <a:lstStyle/>
                    <a:p>
                      <a:r>
                        <a:rPr lang="en-US" dirty="0" smtClean="0"/>
                        <a:t>V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Dark  brown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Very rarely burns , tans very easily</a:t>
                      </a:r>
                      <a:endParaRPr lang="en-IN" dirty="0"/>
                    </a:p>
                  </a:txBody>
                  <a:tcPr/>
                </a:tc>
              </a:tr>
              <a:tr h="734453">
                <a:tc>
                  <a:txBody>
                    <a:bodyPr/>
                    <a:lstStyle/>
                    <a:p>
                      <a:r>
                        <a:rPr lang="en-US" dirty="0" smtClean="0"/>
                        <a:t>VI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Black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Never burns , tans very easily 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9472"/>
            <a:ext cx="7643192" cy="940966"/>
          </a:xfrm>
        </p:spPr>
        <p:txBody>
          <a:bodyPr>
            <a:noAutofit/>
          </a:bodyPr>
          <a:lstStyle/>
          <a:p>
            <a:r>
              <a:rPr lang="en-US" sz="3600" dirty="0" smtClean="0"/>
              <a:t> SKIN PHOTOTYPES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783524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340768"/>
            <a:ext cx="4309460" cy="4533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03997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en-IN" dirty="0" smtClean="0"/>
              <a:t>Tanning Response</a:t>
            </a:r>
            <a:endParaRPr lang="en-IN" dirty="0"/>
          </a:p>
          <a:p>
            <a:pPr marL="109728" indent="0">
              <a:buNone/>
            </a:pPr>
            <a:r>
              <a:rPr lang="en-IN" dirty="0" smtClean="0"/>
              <a:t>UV </a:t>
            </a:r>
            <a:r>
              <a:rPr lang="en-IN" dirty="0"/>
              <a:t>irradiation  induces  </a:t>
            </a:r>
            <a:r>
              <a:rPr lang="en-IN" dirty="0" smtClean="0"/>
              <a:t>tanning so-called  facultative  skin </a:t>
            </a:r>
            <a:r>
              <a:rPr lang="en-IN" dirty="0" err="1"/>
              <a:t>color</a:t>
            </a:r>
            <a:r>
              <a:rPr lang="en-IN" dirty="0"/>
              <a:t>, an  increase  </a:t>
            </a:r>
            <a:r>
              <a:rPr lang="en-IN" dirty="0" smtClean="0"/>
              <a:t>above baseline </a:t>
            </a:r>
            <a:r>
              <a:rPr lang="en-IN" dirty="0"/>
              <a:t>or  </a:t>
            </a:r>
            <a:r>
              <a:rPr lang="en-IN" dirty="0" smtClean="0"/>
              <a:t>constitutive </a:t>
            </a:r>
            <a:r>
              <a:rPr lang="en-IN" dirty="0"/>
              <a:t>skin  </a:t>
            </a:r>
            <a:r>
              <a:rPr lang="en-IN" dirty="0" smtClean="0"/>
              <a:t>pigmentation </a:t>
            </a:r>
            <a:r>
              <a:rPr lang="en-IN" dirty="0"/>
              <a:t>that  provides protection </a:t>
            </a:r>
            <a:r>
              <a:rPr lang="en-IN" dirty="0" smtClean="0"/>
              <a:t>against </a:t>
            </a:r>
            <a:r>
              <a:rPr lang="en-IN" dirty="0"/>
              <a:t>UV  </a:t>
            </a:r>
            <a:r>
              <a:rPr lang="en-IN" dirty="0" smtClean="0"/>
              <a:t>irradiation </a:t>
            </a:r>
          </a:p>
          <a:p>
            <a:pPr marL="109728" indent="0">
              <a:buNone/>
            </a:pPr>
            <a:r>
              <a:rPr lang="en-IN" dirty="0" smtClean="0"/>
              <a:t>Tanning  </a:t>
            </a:r>
            <a:r>
              <a:rPr lang="en-IN" dirty="0"/>
              <a:t>is divided into  immediate</a:t>
            </a:r>
          </a:p>
          <a:p>
            <a:pPr marL="109728" indent="0">
              <a:buNone/>
            </a:pPr>
            <a:r>
              <a:rPr lang="en-IN" dirty="0"/>
              <a:t>tanning and delayed  tanning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2076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09728" indent="0">
              <a:buNone/>
            </a:pPr>
            <a:r>
              <a:rPr lang="en-IN" dirty="0"/>
              <a:t>IMMEDIAIE  </a:t>
            </a:r>
            <a:r>
              <a:rPr lang="en-IN" dirty="0" smtClean="0"/>
              <a:t>TANNING</a:t>
            </a:r>
          </a:p>
          <a:p>
            <a:pPr marL="109728" indent="0">
              <a:buNone/>
            </a:pPr>
            <a:r>
              <a:rPr lang="en-IN" dirty="0" smtClean="0"/>
              <a:t> </a:t>
            </a:r>
            <a:r>
              <a:rPr lang="en-IN" dirty="0"/>
              <a:t>Immediate  </a:t>
            </a:r>
            <a:r>
              <a:rPr lang="en-IN" dirty="0" err="1" smtClean="0"/>
              <a:t>tanning,or</a:t>
            </a:r>
            <a:r>
              <a:rPr lang="en-IN" dirty="0" smtClean="0"/>
              <a:t> </a:t>
            </a:r>
            <a:r>
              <a:rPr lang="en-IN" dirty="0"/>
              <a:t>immediate pigment darkening,  </a:t>
            </a:r>
            <a:r>
              <a:rPr lang="en-IN" dirty="0" smtClean="0"/>
              <a:t>occurs within  </a:t>
            </a:r>
            <a:r>
              <a:rPr lang="en-IN" dirty="0"/>
              <a:t>5  to  10 minutes of  exposure  </a:t>
            </a:r>
            <a:r>
              <a:rPr lang="en-IN" dirty="0" smtClean="0"/>
              <a:t>and fades  </a:t>
            </a:r>
            <a:r>
              <a:rPr lang="en-IN" dirty="0"/>
              <a:t>within  minutes to  days </a:t>
            </a:r>
            <a:r>
              <a:rPr lang="en-IN" dirty="0" smtClean="0"/>
              <a:t>depending on  </a:t>
            </a:r>
            <a:r>
              <a:rPr lang="en-IN" dirty="0"/>
              <a:t>the  </a:t>
            </a:r>
            <a:r>
              <a:rPr lang="en-IN" dirty="0" smtClean="0"/>
              <a:t>UV  </a:t>
            </a:r>
            <a:r>
              <a:rPr lang="en-IN" dirty="0"/>
              <a:t>dose and </a:t>
            </a:r>
            <a:r>
              <a:rPr lang="en-IN" dirty="0" smtClean="0"/>
              <a:t>the complexion  of the  individual</a:t>
            </a:r>
          </a:p>
          <a:p>
            <a:pPr marL="109728" indent="0">
              <a:buNone/>
            </a:pPr>
            <a:endParaRPr lang="en-IN" dirty="0"/>
          </a:p>
          <a:p>
            <a:pPr marL="109728" indent="0">
              <a:buNone/>
            </a:pPr>
            <a:r>
              <a:rPr lang="en-IN" dirty="0"/>
              <a:t>Immediate tanning  is  only  visible  in  darker individuals  and  is  of  greyish-brown  </a:t>
            </a:r>
            <a:r>
              <a:rPr lang="en-IN" dirty="0" err="1"/>
              <a:t>color</a:t>
            </a:r>
            <a:r>
              <a:rPr lang="en-IN" dirty="0"/>
              <a:t>,</a:t>
            </a:r>
          </a:p>
          <a:p>
            <a:pPr marL="109728" indent="0">
              <a:buNone/>
            </a:pPr>
            <a:r>
              <a:rPr lang="en-IN" dirty="0"/>
              <a:t>and it  is thought  to  represent  </a:t>
            </a:r>
            <a:r>
              <a:rPr lang="en-IN" dirty="0" err="1"/>
              <a:t>melanosomal</a:t>
            </a:r>
            <a:r>
              <a:rPr lang="en-IN" dirty="0"/>
              <a:t>  </a:t>
            </a:r>
            <a:r>
              <a:rPr lang="en-IN" dirty="0" smtClean="0"/>
              <a:t>relocation to melanocyte  dendrites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64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IN" dirty="0" smtClean="0"/>
              <a:t>DELAYED  TANNING</a:t>
            </a:r>
          </a:p>
          <a:p>
            <a:pPr marL="109728" indent="0">
              <a:buNone/>
            </a:pPr>
            <a:r>
              <a:rPr lang="en-IN" dirty="0" smtClean="0"/>
              <a:t> </a:t>
            </a:r>
            <a:r>
              <a:rPr lang="en-IN" dirty="0"/>
              <a:t>Delayed tanning, occurs  within  3 to  4 days  </a:t>
            </a:r>
            <a:r>
              <a:rPr lang="en-IN" dirty="0" smtClean="0"/>
              <a:t>after UV  exposure</a:t>
            </a:r>
          </a:p>
          <a:p>
            <a:pPr marL="109728" indent="0">
              <a:buNone/>
            </a:pPr>
            <a:r>
              <a:rPr lang="en-IN" dirty="0" smtClean="0"/>
              <a:t>More due to UVB (280 </a:t>
            </a:r>
            <a:r>
              <a:rPr lang="en-IN" dirty="0"/>
              <a:t>to  320 nm</a:t>
            </a:r>
            <a:r>
              <a:rPr lang="en-IN" dirty="0" smtClean="0"/>
              <a:t>) then UVA  </a:t>
            </a:r>
            <a:r>
              <a:rPr lang="en-IN" dirty="0"/>
              <a:t>(320 to  </a:t>
            </a:r>
            <a:r>
              <a:rPr lang="en-IN" dirty="0" smtClean="0"/>
              <a:t>400nm</a:t>
            </a:r>
            <a:r>
              <a:rPr lang="en-IN" dirty="0"/>
              <a:t>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311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8822655"/>
              </p:ext>
            </p:extLst>
          </p:nvPr>
        </p:nvGraphicFramePr>
        <p:xfrm>
          <a:off x="457200" y="1481139"/>
          <a:ext cx="8229600" cy="4759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536"/>
                <a:gridCol w="2808312"/>
                <a:gridCol w="3682752"/>
              </a:tblGrid>
              <a:tr h="54975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Immediate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delayed</a:t>
                      </a:r>
                      <a:endParaRPr lang="en-IN" dirty="0"/>
                    </a:p>
                  </a:txBody>
                  <a:tcPr/>
                </a:tc>
              </a:tr>
              <a:tr h="549759">
                <a:tc>
                  <a:txBody>
                    <a:bodyPr/>
                    <a:lstStyle/>
                    <a:p>
                      <a:r>
                        <a:rPr lang="en-US" dirty="0" smtClean="0"/>
                        <a:t>Onset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Minutes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3-4 days</a:t>
                      </a:r>
                      <a:endParaRPr lang="en-IN" dirty="0"/>
                    </a:p>
                  </a:txBody>
                  <a:tcPr/>
                </a:tc>
              </a:tr>
              <a:tr h="549759">
                <a:tc>
                  <a:txBody>
                    <a:bodyPr/>
                    <a:lstStyle/>
                    <a:p>
                      <a:r>
                        <a:rPr lang="en-US" dirty="0" smtClean="0"/>
                        <a:t>Peak intensity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Minutes to few hours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10-28 days</a:t>
                      </a:r>
                      <a:endParaRPr lang="en-IN" dirty="0"/>
                    </a:p>
                  </a:txBody>
                  <a:tcPr/>
                </a:tc>
              </a:tr>
              <a:tr h="549759">
                <a:tc>
                  <a:txBody>
                    <a:bodyPr/>
                    <a:lstStyle/>
                    <a:p>
                      <a:r>
                        <a:rPr lang="en-US" dirty="0" smtClean="0"/>
                        <a:t>Fading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Within 24 </a:t>
                      </a:r>
                      <a:r>
                        <a:rPr lang="en-US" dirty="0" err="1" smtClean="0"/>
                        <a:t>hrs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Weeks </a:t>
                      </a:r>
                      <a:endParaRPr lang="en-IN" dirty="0"/>
                    </a:p>
                  </a:txBody>
                  <a:tcPr/>
                </a:tc>
              </a:tr>
              <a:tr h="1411916">
                <a:tc>
                  <a:txBody>
                    <a:bodyPr/>
                    <a:lstStyle/>
                    <a:p>
                      <a:r>
                        <a:rPr lang="en-US" dirty="0" smtClean="0"/>
                        <a:t>Mechanisms</a:t>
                      </a:r>
                      <a:r>
                        <a:rPr lang="en-US" baseline="0" dirty="0" smtClean="0"/>
                        <a:t>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Redistribution of </a:t>
                      </a:r>
                      <a:r>
                        <a:rPr lang="en-US" dirty="0" err="1" smtClean="0"/>
                        <a:t>melanosomes</a:t>
                      </a:r>
                      <a:r>
                        <a:rPr lang="en-US" baseline="0" dirty="0" smtClean="0"/>
                        <a:t>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Inc</a:t>
                      </a:r>
                      <a:r>
                        <a:rPr lang="en-IN" dirty="0" smtClean="0"/>
                        <a:t> keratinocyte-derived  </a:t>
                      </a:r>
                      <a:r>
                        <a:rPr lang="en-IN" dirty="0" err="1" smtClean="0"/>
                        <a:t>melanogenic</a:t>
                      </a:r>
                      <a:r>
                        <a:rPr lang="en-IN" dirty="0" smtClean="0"/>
                        <a:t>  cytokines</a:t>
                      </a:r>
                    </a:p>
                    <a:p>
                      <a:r>
                        <a:rPr lang="en-IN" dirty="0" err="1" smtClean="0"/>
                        <a:t>Inc</a:t>
                      </a:r>
                      <a:r>
                        <a:rPr lang="en-IN" baseline="0" dirty="0" smtClean="0"/>
                        <a:t> </a:t>
                      </a:r>
                      <a:r>
                        <a:rPr lang="en-IN" dirty="0" err="1" smtClean="0"/>
                        <a:t>Tyrosinase</a:t>
                      </a:r>
                      <a:r>
                        <a:rPr lang="en-IN" dirty="0" smtClean="0"/>
                        <a:t>  level  and  activity</a:t>
                      </a:r>
                    </a:p>
                    <a:p>
                      <a:r>
                        <a:rPr lang="en-IN" dirty="0" err="1" smtClean="0"/>
                        <a:t>Inc</a:t>
                      </a:r>
                      <a:r>
                        <a:rPr lang="en-IN" baseline="0" dirty="0" smtClean="0"/>
                        <a:t> </a:t>
                      </a:r>
                      <a:r>
                        <a:rPr lang="en-IN" dirty="0" smtClean="0"/>
                        <a:t>Melanin  synthesis</a:t>
                      </a:r>
                    </a:p>
                    <a:p>
                      <a:r>
                        <a:rPr lang="en-IN" dirty="0" err="1" smtClean="0"/>
                        <a:t>Inc</a:t>
                      </a:r>
                      <a:r>
                        <a:rPr lang="en-IN" baseline="0" dirty="0" smtClean="0"/>
                        <a:t> </a:t>
                      </a:r>
                      <a:r>
                        <a:rPr lang="en-IN" dirty="0" smtClean="0"/>
                        <a:t>Melanocyte  </a:t>
                      </a:r>
                      <a:r>
                        <a:rPr lang="en-IN" dirty="0" err="1" smtClean="0"/>
                        <a:t>dendricity</a:t>
                      </a:r>
                      <a:endParaRPr lang="en-IN" dirty="0" smtClean="0"/>
                    </a:p>
                    <a:p>
                      <a:r>
                        <a:rPr lang="en-IN" dirty="0" err="1" smtClean="0"/>
                        <a:t>Inc</a:t>
                      </a:r>
                      <a:r>
                        <a:rPr lang="en-IN" baseline="0" dirty="0" smtClean="0"/>
                        <a:t> </a:t>
                      </a:r>
                      <a:r>
                        <a:rPr lang="en-IN" dirty="0" err="1" smtClean="0"/>
                        <a:t>Melanosome</a:t>
                      </a:r>
                      <a:r>
                        <a:rPr lang="en-IN" dirty="0" smtClean="0"/>
                        <a:t>  number</a:t>
                      </a:r>
                    </a:p>
                    <a:p>
                      <a:r>
                        <a:rPr lang="en-IN" dirty="0" err="1" smtClean="0"/>
                        <a:t>Inc</a:t>
                      </a:r>
                      <a:r>
                        <a:rPr lang="en-IN" baseline="0" dirty="0" smtClean="0"/>
                        <a:t> </a:t>
                      </a:r>
                      <a:r>
                        <a:rPr lang="en-IN" dirty="0" err="1" smtClean="0"/>
                        <a:t>Melanosome</a:t>
                      </a:r>
                      <a:r>
                        <a:rPr lang="en-IN" dirty="0" smtClean="0"/>
                        <a:t>  transfer</a:t>
                      </a:r>
                    </a:p>
                    <a:p>
                      <a:r>
                        <a:rPr lang="en-IN" dirty="0" err="1" smtClean="0"/>
                        <a:t>Inc</a:t>
                      </a:r>
                      <a:r>
                        <a:rPr lang="en-IN" baseline="0" dirty="0" smtClean="0"/>
                        <a:t> </a:t>
                      </a:r>
                      <a:r>
                        <a:rPr lang="en-IN" dirty="0" err="1" smtClean="0"/>
                        <a:t>Mehnocyte</a:t>
                      </a:r>
                      <a:r>
                        <a:rPr lang="en-IN" dirty="0" smtClean="0"/>
                        <a:t>  </a:t>
                      </a:r>
                      <a:r>
                        <a:rPr lang="en-IN" dirty="0" err="1" smtClean="0"/>
                        <a:t>prolifera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err="1"/>
              <a:t>lmmediate</a:t>
            </a:r>
            <a:r>
              <a:rPr lang="en-IN" dirty="0"/>
              <a:t>  Tanning  vs.  Delayed  </a:t>
            </a:r>
            <a:r>
              <a:rPr lang="en-IN" dirty="0" smtClean="0"/>
              <a:t>Tanning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3653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7430783"/>
              </p:ext>
            </p:extLst>
          </p:nvPr>
        </p:nvGraphicFramePr>
        <p:xfrm>
          <a:off x="395536" y="1844824"/>
          <a:ext cx="8229600" cy="18380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2"/>
                <a:gridCol w="3398168"/>
                <a:gridCol w="2743200"/>
              </a:tblGrid>
              <a:tr h="649287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Photoprotection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Unchanged 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Increased 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649287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Change in skin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colour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Undetectable  in  fair  skin</a:t>
                      </a:r>
                    </a:p>
                    <a:p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Subtle  in  darker  skin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Obvious  in  most  light-skinned  and  all</a:t>
                      </a:r>
                    </a:p>
                    <a:p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dark-skinned  individuals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4872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6387950"/>
              </p:ext>
            </p:extLst>
          </p:nvPr>
        </p:nvGraphicFramePr>
        <p:xfrm>
          <a:off x="539552" y="1340768"/>
          <a:ext cx="8229600" cy="456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86985">
                <a:tc>
                  <a:txBody>
                    <a:bodyPr/>
                    <a:lstStyle/>
                    <a:p>
                      <a:r>
                        <a:rPr lang="en-IN" dirty="0" smtClean="0"/>
                        <a:t>Characters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       Racial types of skin</a:t>
                      </a:r>
                    </a:p>
                    <a:p>
                      <a:r>
                        <a:rPr lang="en-US" dirty="0" smtClean="0"/>
                        <a:t>Caucasoid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Negroid </a:t>
                      </a:r>
                      <a:endParaRPr lang="en-IN" dirty="0"/>
                    </a:p>
                  </a:txBody>
                  <a:tcPr/>
                </a:tc>
              </a:tr>
              <a:tr h="586985">
                <a:tc>
                  <a:txBody>
                    <a:bodyPr/>
                    <a:lstStyle/>
                    <a:p>
                      <a:r>
                        <a:rPr lang="en-IN" dirty="0" smtClean="0"/>
                        <a:t>1) Number of active epidermal melanin units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Less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More </a:t>
                      </a:r>
                      <a:endParaRPr lang="en-IN" dirty="0"/>
                    </a:p>
                  </a:txBody>
                  <a:tcPr/>
                </a:tc>
              </a:tr>
              <a:tr h="537008">
                <a:tc>
                  <a:txBody>
                    <a:bodyPr/>
                    <a:lstStyle/>
                    <a:p>
                      <a:r>
                        <a:rPr lang="en-IN" dirty="0" smtClean="0"/>
                        <a:t>2) </a:t>
                      </a:r>
                      <a:r>
                        <a:rPr lang="en-IN" dirty="0" err="1" smtClean="0"/>
                        <a:t>Melanosome</a:t>
                      </a:r>
                      <a:r>
                        <a:rPr lang="en-IN" dirty="0" smtClean="0"/>
                        <a:t>  shape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Rounded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Ellipsoid</a:t>
                      </a:r>
                      <a:r>
                        <a:rPr lang="en-US" baseline="0" dirty="0" smtClean="0"/>
                        <a:t> </a:t>
                      </a:r>
                      <a:endParaRPr lang="en-IN" dirty="0"/>
                    </a:p>
                  </a:txBody>
                  <a:tcPr/>
                </a:tc>
              </a:tr>
              <a:tr h="586985">
                <a:tc>
                  <a:txBody>
                    <a:bodyPr/>
                    <a:lstStyle/>
                    <a:p>
                      <a:r>
                        <a:rPr lang="en-IN" dirty="0" smtClean="0"/>
                        <a:t>3) </a:t>
                      </a:r>
                      <a:r>
                        <a:rPr lang="en-IN" dirty="0" err="1" smtClean="0"/>
                        <a:t>Melanosome</a:t>
                      </a:r>
                      <a:r>
                        <a:rPr lang="en-IN" dirty="0" smtClean="0"/>
                        <a:t> size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Smaller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Larger (about 1 micron in length)</a:t>
                      </a:r>
                      <a:endParaRPr lang="en-IN" dirty="0"/>
                    </a:p>
                  </a:txBody>
                  <a:tcPr/>
                </a:tc>
              </a:tr>
              <a:tr h="586985">
                <a:tc>
                  <a:txBody>
                    <a:bodyPr/>
                    <a:lstStyle/>
                    <a:p>
                      <a:r>
                        <a:rPr lang="en-IN" dirty="0" smtClean="0"/>
                        <a:t>4)</a:t>
                      </a:r>
                      <a:r>
                        <a:rPr lang="en-IN" baseline="0" dirty="0" smtClean="0"/>
                        <a:t> </a:t>
                      </a:r>
                      <a:r>
                        <a:rPr lang="en-IN" dirty="0" err="1" smtClean="0"/>
                        <a:t>Melanosome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melanization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Less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More </a:t>
                      </a:r>
                      <a:endParaRPr lang="en-IN" dirty="0"/>
                    </a:p>
                  </a:txBody>
                  <a:tcPr/>
                </a:tc>
              </a:tr>
              <a:tr h="863111">
                <a:tc>
                  <a:txBody>
                    <a:bodyPr/>
                    <a:lstStyle/>
                    <a:p>
                      <a:r>
                        <a:rPr lang="en-IN" dirty="0" smtClean="0"/>
                        <a:t>5) </a:t>
                      </a:r>
                      <a:r>
                        <a:rPr lang="en-IN" dirty="0" err="1" smtClean="0"/>
                        <a:t>Melanosome</a:t>
                      </a:r>
                      <a:r>
                        <a:rPr lang="en-IN" dirty="0" smtClean="0"/>
                        <a:t> packing within keratinocytes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Groups of 3 or 4 packed together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Packed individually</a:t>
                      </a:r>
                    </a:p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Racial variation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9860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7756992"/>
              </p:ext>
            </p:extLst>
          </p:nvPr>
        </p:nvGraphicFramePr>
        <p:xfrm>
          <a:off x="457200" y="1481138"/>
          <a:ext cx="822960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103671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 smtClean="0">
                          <a:solidFill>
                            <a:schemeClr val="tx1"/>
                          </a:solidFill>
                        </a:rPr>
                        <a:t>6)</a:t>
                      </a:r>
                      <a:r>
                        <a:rPr lang="en-IN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b="0" dirty="0" err="1" smtClean="0">
                          <a:solidFill>
                            <a:schemeClr val="tx1"/>
                          </a:solidFill>
                        </a:rPr>
                        <a:t>Melanosome</a:t>
                      </a:r>
                      <a:r>
                        <a:rPr lang="en-IN" b="0" dirty="0" smtClean="0">
                          <a:solidFill>
                            <a:schemeClr val="tx1"/>
                          </a:solidFill>
                        </a:rPr>
                        <a:t> distribution within keratinocytes</a:t>
                      </a:r>
                    </a:p>
                    <a:p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 smtClean="0">
                          <a:solidFill>
                            <a:schemeClr val="tx1"/>
                          </a:solidFill>
                        </a:rPr>
                        <a:t>Aggregated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 smtClean="0">
                          <a:solidFill>
                            <a:schemeClr val="tx1"/>
                          </a:solidFill>
                        </a:rPr>
                        <a:t>Widely dispersed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78496">
                <a:tc>
                  <a:txBody>
                    <a:bodyPr/>
                    <a:lstStyle/>
                    <a:p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7)</a:t>
                      </a:r>
                      <a:r>
                        <a:rPr lang="en-IN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dirty="0" err="1" smtClean="0">
                          <a:solidFill>
                            <a:schemeClr val="tx1"/>
                          </a:solidFill>
                        </a:rPr>
                        <a:t>Melanosome</a:t>
                      </a:r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 degradation within keratinocytes.</a:t>
                      </a:r>
                    </a:p>
                    <a:p>
                      <a:pPr marL="342900" indent="-342900">
                        <a:buAutoNum type="alphaLcParenR"/>
                      </a:pPr>
                      <a:r>
                        <a:rPr lang="en-IN" dirty="0" smtClean="0">
                          <a:solidFill>
                            <a:schemeClr val="tx1"/>
                          </a:solidFill>
                        </a:rPr>
                        <a:t>Onset</a:t>
                      </a:r>
                    </a:p>
                    <a:p>
                      <a:pPr marL="0" indent="0">
                        <a:buNone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b)  Degree 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Early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Intense (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degradative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changes can be detected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ven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at the basal layer of epidermis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)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Late 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Mild ( intact larger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melanosomes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may be seen even in the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granular layer of  epidermis)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684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 smtClean="0"/>
              <a:t>Hypomelanosis</a:t>
            </a:r>
            <a:endParaRPr lang="en-US" dirty="0" smtClean="0"/>
          </a:p>
          <a:p>
            <a:pPr marL="0" indent="0">
              <a:buNone/>
            </a:pPr>
            <a:r>
              <a:rPr lang="en-IN" dirty="0"/>
              <a:t>a. Absence of epidermal melanin (e.g. albinism, </a:t>
            </a:r>
            <a:r>
              <a:rPr lang="en-IN" dirty="0" smtClean="0"/>
              <a:t>nevus </a:t>
            </a:r>
            <a:r>
              <a:rPr lang="en-IN" dirty="0" err="1" smtClean="0"/>
              <a:t>depigmentosus</a:t>
            </a:r>
            <a:r>
              <a:rPr lang="en-IN" dirty="0"/>
              <a:t>, </a:t>
            </a:r>
            <a:r>
              <a:rPr lang="en-IN" dirty="0" err="1"/>
              <a:t>leukoderma</a:t>
            </a:r>
            <a:r>
              <a:rPr lang="en-IN" dirty="0" smtClean="0"/>
              <a:t>)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b</a:t>
            </a:r>
            <a:r>
              <a:rPr lang="en-IN" dirty="0" smtClean="0"/>
              <a:t>.</a:t>
            </a:r>
            <a:r>
              <a:rPr lang="en-IN" dirty="0"/>
              <a:t> </a:t>
            </a:r>
            <a:r>
              <a:rPr lang="en-IN" dirty="0" smtClean="0"/>
              <a:t> </a:t>
            </a:r>
            <a:r>
              <a:rPr lang="en-IN" dirty="0"/>
              <a:t>Reduction  of  epidermal  melanin  (e.g.  </a:t>
            </a:r>
            <a:r>
              <a:rPr lang="en-IN" dirty="0" err="1" smtClean="0"/>
              <a:t>Pityriasis</a:t>
            </a:r>
            <a:r>
              <a:rPr lang="en-IN" dirty="0" smtClean="0"/>
              <a:t> </a:t>
            </a:r>
            <a:r>
              <a:rPr lang="en-IN" dirty="0" err="1" smtClean="0"/>
              <a:t>versicolor</a:t>
            </a:r>
            <a:r>
              <a:rPr lang="en-IN" dirty="0"/>
              <a:t>, </a:t>
            </a:r>
            <a:r>
              <a:rPr lang="en-IN" dirty="0" err="1"/>
              <a:t>vitiligo</a:t>
            </a:r>
            <a:r>
              <a:rPr lang="en-IN" dirty="0"/>
              <a:t>, post-inflammatory </a:t>
            </a:r>
            <a:r>
              <a:rPr lang="en-IN" dirty="0" err="1" smtClean="0"/>
              <a:t>hypopigmented</a:t>
            </a:r>
            <a:r>
              <a:rPr lang="en-IN" dirty="0"/>
              <a:t> </a:t>
            </a:r>
            <a:r>
              <a:rPr lang="en-IN" dirty="0" smtClean="0"/>
              <a:t>patches</a:t>
            </a:r>
            <a:r>
              <a:rPr lang="en-IN" dirty="0" smtClean="0"/>
              <a:t>)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Pigmentary</a:t>
            </a:r>
            <a:r>
              <a:rPr lang="en-US" dirty="0" smtClean="0"/>
              <a:t> disorder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02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err="1" smtClean="0"/>
              <a:t>Hypermelanosis</a:t>
            </a:r>
            <a:r>
              <a:rPr lang="en-IN" dirty="0" smtClean="0"/>
              <a:t> </a:t>
            </a:r>
          </a:p>
          <a:p>
            <a:pPr marL="0" indent="0">
              <a:buNone/>
            </a:pPr>
            <a:r>
              <a:rPr lang="en-IN" dirty="0" smtClean="0"/>
              <a:t>a</a:t>
            </a:r>
            <a:r>
              <a:rPr lang="en-IN" dirty="0"/>
              <a:t>. Increased  epidermal  melanin  (e.g.  sun  </a:t>
            </a:r>
            <a:r>
              <a:rPr lang="en-IN" dirty="0" smtClean="0"/>
              <a:t>tanning, </a:t>
            </a:r>
            <a:r>
              <a:rPr lang="en-IN" dirty="0" err="1" smtClean="0"/>
              <a:t>melasma</a:t>
            </a:r>
            <a:r>
              <a:rPr lang="en-IN" dirty="0"/>
              <a:t>, freckles, </a:t>
            </a:r>
            <a:r>
              <a:rPr lang="en-IN" dirty="0" err="1"/>
              <a:t>lentigines</a:t>
            </a:r>
            <a:r>
              <a:rPr lang="en-IN" dirty="0"/>
              <a:t>, nevus </a:t>
            </a:r>
            <a:r>
              <a:rPr lang="en-IN" dirty="0" err="1"/>
              <a:t>spilus</a:t>
            </a:r>
            <a:r>
              <a:rPr lang="en-IN" dirty="0"/>
              <a:t>, nevus </a:t>
            </a:r>
            <a:r>
              <a:rPr lang="en-IN" dirty="0" smtClean="0"/>
              <a:t>of Ota</a:t>
            </a:r>
            <a:r>
              <a:rPr lang="en-IN" dirty="0"/>
              <a:t>, Becker’s nevus, chronic inflammatory patches</a:t>
            </a:r>
            <a:r>
              <a:rPr lang="en-IN" dirty="0" smtClean="0"/>
              <a:t>)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b</a:t>
            </a:r>
            <a:r>
              <a:rPr lang="en-IN" dirty="0" smtClean="0"/>
              <a:t>. </a:t>
            </a:r>
            <a:r>
              <a:rPr lang="en-IN" dirty="0"/>
              <a:t>Increased sub-epidermal melanin (e.g. lichen </a:t>
            </a:r>
            <a:r>
              <a:rPr lang="en-IN" dirty="0" err="1" smtClean="0"/>
              <a:t>planus</a:t>
            </a:r>
            <a:r>
              <a:rPr lang="en-IN" dirty="0" smtClean="0"/>
              <a:t>, lupus  </a:t>
            </a:r>
            <a:r>
              <a:rPr lang="en-IN" dirty="0"/>
              <a:t>erythematous,  post-inflammatory  </a:t>
            </a:r>
            <a:r>
              <a:rPr lang="en-IN" dirty="0" smtClean="0"/>
              <a:t>pigmentation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52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9"/>
            <a:ext cx="8229600" cy="1947672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sz="7200" dirty="0" smtClean="0"/>
              <a:t>    THANK YOU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1095046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6195</TotalTime>
  <Words>1773</Words>
  <Application>Microsoft Office PowerPoint</Application>
  <PresentationFormat>On-screen Show (4:3)</PresentationFormat>
  <Paragraphs>283</Paragraphs>
  <Slides>48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Concourse</vt:lpstr>
      <vt:lpstr>EPIDERMAL MELANIN UNIT</vt:lpstr>
      <vt:lpstr>PowerPoint Presentation</vt:lpstr>
      <vt:lpstr>MELANOCYTES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MELANOGENESIS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MELANOGENIC PROTEINS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Melanogenic  Stimulator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SKIN PHOTOTYPES</vt:lpstr>
      <vt:lpstr>PowerPoint Presentation</vt:lpstr>
      <vt:lpstr>PowerPoint Presentation</vt:lpstr>
      <vt:lpstr>PowerPoint Presentation</vt:lpstr>
      <vt:lpstr>PowerPoint Presentation</vt:lpstr>
      <vt:lpstr>lmmediate  Tanning  vs.  Delayed  Tanning</vt:lpstr>
      <vt:lpstr>PowerPoint Presentation</vt:lpstr>
      <vt:lpstr>        Racial variation</vt:lpstr>
      <vt:lpstr>PowerPoint Presentation</vt:lpstr>
      <vt:lpstr>Pigmentary disorder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EPIDERMAL MELANOCYTE UNIT </dc:title>
  <dc:creator>shriram</dc:creator>
  <cp:lastModifiedBy>shriram</cp:lastModifiedBy>
  <cp:revision>120</cp:revision>
  <dcterms:created xsi:type="dcterms:W3CDTF">2014-12-30T17:20:12Z</dcterms:created>
  <dcterms:modified xsi:type="dcterms:W3CDTF">2015-01-18T18:39:47Z</dcterms:modified>
</cp:coreProperties>
</file>